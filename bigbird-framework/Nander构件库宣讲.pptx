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tags/tag4.xml" ContentType="application/vnd.openxmlformats-officedocument.presentationml.tags+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Default Extension="gif" ContentType="image/gif"/>
  <Override PartName="/ppt/notesSlides/notesSlide3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373" r:id="rId3"/>
    <p:sldId id="258" r:id="rId4"/>
    <p:sldId id="265" r:id="rId5"/>
    <p:sldId id="267" r:id="rId6"/>
    <p:sldId id="378" r:id="rId7"/>
    <p:sldId id="259" r:id="rId8"/>
    <p:sldId id="275" r:id="rId9"/>
    <p:sldId id="347" r:id="rId10"/>
    <p:sldId id="276" r:id="rId11"/>
    <p:sldId id="295" r:id="rId12"/>
    <p:sldId id="374" r:id="rId13"/>
    <p:sldId id="375" r:id="rId14"/>
    <p:sldId id="272" r:id="rId15"/>
    <p:sldId id="376" r:id="rId16"/>
    <p:sldId id="371" r:id="rId17"/>
    <p:sldId id="381" r:id="rId18"/>
    <p:sldId id="340" r:id="rId19"/>
    <p:sldId id="341" r:id="rId20"/>
    <p:sldId id="342" r:id="rId21"/>
    <p:sldId id="343" r:id="rId22"/>
    <p:sldId id="345" r:id="rId23"/>
    <p:sldId id="377" r:id="rId24"/>
    <p:sldId id="334" r:id="rId25"/>
    <p:sldId id="323" r:id="rId26"/>
    <p:sldId id="379" r:id="rId27"/>
    <p:sldId id="380" r:id="rId28"/>
    <p:sldId id="337" r:id="rId29"/>
    <p:sldId id="331" r:id="rId30"/>
    <p:sldId id="281" r:id="rId31"/>
    <p:sldId id="280" r:id="rId32"/>
  </p:sldIdLst>
  <p:sldSz cx="12192000" cy="6858000"/>
  <p:notesSz cx="7104063" cy="10234613"/>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36" userDrawn="1">
          <p15:clr>
            <a:srgbClr val="A4A3A4"/>
          </p15:clr>
        </p15:guide>
        <p15:guide id="2" pos="38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xmlns="" val="1"/>
      </p:ext>
    </p:extLst>
  </p:showPr>
  <p:clrMru>
    <a:srgbClr val="FF999B"/>
    <a:srgbClr val="34705E"/>
    <a:srgbClr val="EDF8F1"/>
    <a:srgbClr val="FFFFFF"/>
    <a:srgbClr val="476682"/>
    <a:srgbClr val="4E7999"/>
    <a:srgbClr val="F9FCFE"/>
    <a:srgbClr val="D8F0E1"/>
    <a:srgbClr val="98EDB6"/>
    <a:srgbClr val="73C99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18" autoAdjust="0"/>
  </p:normalViewPr>
  <p:slideViewPr>
    <p:cSldViewPr snapToGrid="0">
      <p:cViewPr varScale="1">
        <p:scale>
          <a:sx n="161" d="100"/>
          <a:sy n="161" d="100"/>
        </p:scale>
        <p:origin x="-324" y="-72"/>
      </p:cViewPr>
      <p:guideLst>
        <p:guide orient="horz" pos="2136"/>
        <p:guide pos="3847"/>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2026/4/19</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8AA890-B99E-45CF-B993-5F064FC7B865}" type="slidenum">
              <a:rPr lang="zh-CN" altLang="en-US" smtClean="0"/>
              <a:pPr/>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1CEFE6-8909-48D0-BA4D-736F6D433DBD}" type="slidenum">
              <a:rPr lang="zh-CN" altLang="en-US" smtClean="0"/>
              <a:pPr/>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8AA890-B99E-45CF-B993-5F064FC7B865}"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spd="slow" advClick="0" advTm="2000">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transition spd="slow" advClick="0" advTm="200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advClick="0" advTm="200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00" y="6356351"/>
            <a:ext cx="2844800" cy="365125"/>
          </a:xfrm>
        </p:spPr>
        <p:txBody>
          <a:bodyPr/>
          <a:lstStyle/>
          <a:p>
            <a:fld id="{D127DCB1-0208-41E5-AB24-836646FF8A54}" type="datetimeFigureOut">
              <a:rPr lang="zh-CN" altLang="en-US" smtClean="0"/>
              <a:pPr/>
              <a:t>2026/4/19</a:t>
            </a:fld>
            <a:endParaRPr lang="zh-CN" altLang="en-US"/>
          </a:p>
        </p:txBody>
      </p:sp>
      <p:sp>
        <p:nvSpPr>
          <p:cNvPr id="5" name="页脚占位符 4"/>
          <p:cNvSpPr>
            <a:spLocks noGrp="1"/>
          </p:cNvSpPr>
          <p:nvPr>
            <p:ph type="ftr" sz="quarter" idx="11"/>
          </p:nvPr>
        </p:nvSpPr>
        <p:spPr>
          <a:xfrm>
            <a:off x="4165600" y="6356351"/>
            <a:ext cx="3860800" cy="365125"/>
          </a:xfr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p:spPr>
        <p:txBody>
          <a:bodyPr/>
          <a:lstStyle/>
          <a:p>
            <a:fld id="{4D73501D-EC38-490D-9D43-C024D6776DB2}" type="slidenum">
              <a:rPr lang="zh-CN" altLang="en-US" smtClean="0"/>
              <a:pPr/>
              <a:t>‹#›</a:t>
            </a:fld>
            <a:endParaRPr lang="zh-CN" altLang="en-US"/>
          </a:p>
        </p:txBody>
      </p:sp>
    </p:spTree>
  </p:cSld>
  <p:clrMapOvr>
    <a:masterClrMapping/>
  </p:clrMapOvr>
  <p:transition spd="slow" advClick="0" advTm="2000">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p:spPr>
        <p:txBody>
          <a:bodyPr/>
          <a:lstStyle/>
          <a:p>
            <a:fld id="{42BF0E76-E6F9-4125-90CD-90F8EE17D5E5}" type="datetime1">
              <a:rPr lang="zh-CN" altLang="en-US" smtClean="0"/>
              <a:pPr/>
              <a:t>2026/4/19</a:t>
            </a:fld>
            <a:endParaRPr lang="zh-CN" altLang="en-US"/>
          </a:p>
        </p:txBody>
      </p:sp>
      <p:sp>
        <p:nvSpPr>
          <p:cNvPr id="6" name="灯片编号占位符 5"/>
          <p:cNvSpPr>
            <a:spLocks noGrp="1"/>
          </p:cNvSpPr>
          <p:nvPr>
            <p:ph type="sldNum" sz="quarter" idx="12"/>
          </p:nvPr>
        </p:nvSpPr>
        <p:spPr>
          <a:xfrm>
            <a:off x="3887755" y="6405331"/>
            <a:ext cx="2844800" cy="365126"/>
          </a:xfrm>
          <a:prstGeom prst="rect">
            <a:avLst/>
          </a:prstGeom>
        </p:spPr>
        <p:txBody>
          <a:bodyPr/>
          <a:lstStyle/>
          <a:p>
            <a:fld id="{916F26BD-DE47-4663-A93D-9EEAA4334141}" type="slidenum">
              <a:rPr lang="zh-CN" altLang="en-US" smtClean="0"/>
              <a:pPr/>
              <a:t>‹#›</a:t>
            </a:fld>
            <a:endParaRPr lang="zh-CN" altLang="en-US"/>
          </a:p>
        </p:txBody>
      </p:sp>
    </p:spTree>
  </p:cSld>
  <p:clrMapOvr>
    <a:masterClrMapping/>
  </p:clrMapOvr>
  <mc:AlternateContent xmlns:mc="http://schemas.openxmlformats.org/markup-compatibility/2006">
    <mc:Choice xmlns:p14="http://schemas.microsoft.com/office/powerpoint/2010/main" xmlns="" Requires="p14">
      <p:transition spd="slow" p14:dur="1250" advClick="0" advTm="0">
        <p:push dir="u"/>
      </p:transition>
    </mc:Choice>
    <mc:Fallback>
      <p:transition spd="slow" advClick="0" advTm="0">
        <p:push dir="u"/>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8F1"/>
        </a:solidFill>
        <a:effectLst/>
      </p:bgPr>
    </p:bg>
    <p:spTree>
      <p:nvGrpSpPr>
        <p:cNvPr id="1" name=""/>
        <p:cNvGrpSpPr/>
        <p:nvPr/>
      </p:nvGrpSpPr>
      <p:grpSpPr>
        <a:xfrm>
          <a:off x="0" y="0"/>
          <a:ext cx="0" cy="0"/>
          <a:chOff x="0" y="0"/>
          <a:chExt cx="0" cy="0"/>
        </a:xfrm>
      </p:grpSpPr>
      <p:sp>
        <p:nvSpPr>
          <p:cNvPr id="12" name="文本框 11"/>
          <p:cNvSpPr txBox="1"/>
          <p:nvPr userDrawn="1"/>
        </p:nvSpPr>
        <p:spPr>
          <a:xfrm>
            <a:off x="3869690" y="2025650"/>
            <a:ext cx="4730115" cy="1476375"/>
          </a:xfrm>
          <a:prstGeom prst="rect">
            <a:avLst/>
          </a:prstGeom>
          <a:noFill/>
        </p:spPr>
        <p:txBody>
          <a:bodyPr wrap="square" rtlCol="0" anchor="t">
            <a:spAutoFit/>
          </a:bodyPr>
          <a:lstStyle/>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感谢您下载包图网平台上提供的</a:t>
            </a:r>
            <a:r>
              <a:rPr lang="en-US" altLang="zh-CN" dirty="0">
                <a:solidFill>
                  <a:schemeClr val="tx1">
                    <a:lumMod val="75000"/>
                    <a:lumOff val="25000"/>
                    <a:alpha val="0"/>
                  </a:schemeClr>
                </a:solidFill>
                <a:latin typeface="宋体" panose="02010600030101010101" pitchFamily="2" charset="-122"/>
                <a:ea typeface="宋体" panose="02010600030101010101" pitchFamily="2" charset="-122"/>
                <a:sym typeface="+mn-ea"/>
              </a:rPr>
              <a:t>PPT</a:t>
            </a:r>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作品，</a:t>
            </a: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为了您和包图网以及原创作者的利益，请</a:t>
            </a: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勿复制、传播、销售，否则将承担法律责</a:t>
            </a: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任！包图网将对作品进行维权，按照传播</a:t>
            </a:r>
          </a:p>
          <a:p>
            <a:r>
              <a:rPr lang="zh-CN" altLang="en-US" dirty="0">
                <a:solidFill>
                  <a:schemeClr val="tx1">
                    <a:lumMod val="75000"/>
                    <a:lumOff val="25000"/>
                    <a:alpha val="0"/>
                  </a:schemeClr>
                </a:solidFill>
                <a:latin typeface="宋体" panose="02010600030101010101" pitchFamily="2" charset="-122"/>
                <a:ea typeface="宋体" panose="02010600030101010101" pitchFamily="2" charset="-122"/>
                <a:sym typeface="+mn-ea"/>
              </a:rPr>
              <a:t>下载次数进行十倍的索取赔偿！</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2000">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3.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15.xml"/><Relationship Id="rId7" Type="http://schemas.openxmlformats.org/officeDocument/2006/relationships/image" Target="../media/image43.png"/><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13.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13.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png"/><Relationship Id="rId7"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8" Type="http://schemas.openxmlformats.org/officeDocument/2006/relationships/image" Target="../media/image67.gif"/><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gif"/><Relationship Id="rId4" Type="http://schemas.openxmlformats.org/officeDocument/2006/relationships/image" Target="../media/image64.gif"/></Relationships>
</file>

<file path=ppt/slides/_rels/slide26.xml.rels><?xml version="1.0" encoding="UTF-8" standalone="yes"?>
<Relationships xmlns="http://schemas.openxmlformats.org/package/2006/relationships"><Relationship Id="rId8" Type="http://schemas.openxmlformats.org/officeDocument/2006/relationships/image" Target="../media/image69.gif"/><Relationship Id="rId3" Type="http://schemas.openxmlformats.org/officeDocument/2006/relationships/image" Target="../media/image68.gif"/><Relationship Id="rId7"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4.gif"/><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0.gif"/><Relationship Id="rId7"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64.gif"/><Relationship Id="rId5" Type="http://schemas.openxmlformats.org/officeDocument/2006/relationships/image" Target="../media/image13.png"/><Relationship Id="rId4" Type="http://schemas.openxmlformats.org/officeDocument/2006/relationships/image" Target="../media/image71.gif"/></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53.png"/><Relationship Id="rId4" Type="http://schemas.openxmlformats.org/officeDocument/2006/relationships/image" Target="../media/image72.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45c407e3387dca278e382816eec1a0d2"/>
          <p:cNvPicPr>
            <a:picLocks noChangeAspect="1"/>
          </p:cNvPicPr>
          <p:nvPr/>
        </p:nvPicPr>
        <p:blipFill>
          <a:blip r:embed="rId3" cstate="print"/>
          <a:stretch>
            <a:fillRect/>
          </a:stretch>
        </p:blipFill>
        <p:spPr>
          <a:xfrm>
            <a:off x="0" y="2477770"/>
            <a:ext cx="12192000" cy="438023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645602" y="-584185"/>
            <a:ext cx="10870565" cy="7675850"/>
          </a:xfrm>
          <a:prstGeom prst="rect">
            <a:avLst/>
          </a:prstGeom>
        </p:spPr>
      </p:pic>
      <p:pic>
        <p:nvPicPr>
          <p:cNvPr id="3" name="图片 2"/>
          <p:cNvPicPr>
            <a:picLocks noChangeAspect="1"/>
          </p:cNvPicPr>
          <p:nvPr/>
        </p:nvPicPr>
        <p:blipFill rotWithShape="1">
          <a:blip r:embed="rId5" cstate="print">
            <a:extLst>
              <a:ext uri="{28A0092B-C50C-407E-A947-70E740481C1C}">
                <a14:useLocalDpi xmlns:a14="http://schemas.microsoft.com/office/drawing/2010/main" xmlns="" val="0"/>
              </a:ext>
            </a:extLst>
          </a:blip>
          <a:srcRect l="4193" t="2191" r="2694" b="6031"/>
          <a:stretch>
            <a:fillRect/>
          </a:stretch>
        </p:blipFill>
        <p:spPr>
          <a:xfrm>
            <a:off x="-398780" y="1823720"/>
            <a:ext cx="5638165" cy="5125085"/>
          </a:xfrm>
          <a:prstGeom prst="rect">
            <a:avLst/>
          </a:prstGeom>
        </p:spPr>
      </p:pic>
      <p:sp>
        <p:nvSpPr>
          <p:cNvPr id="4" name="文本框 3"/>
          <p:cNvSpPr txBox="1"/>
          <p:nvPr/>
        </p:nvSpPr>
        <p:spPr>
          <a:xfrm>
            <a:off x="4317497" y="2523237"/>
            <a:ext cx="5495172" cy="1015663"/>
          </a:xfrm>
          <a:prstGeom prst="rect">
            <a:avLst/>
          </a:prstGeom>
          <a:noFill/>
        </p:spPr>
        <p:txBody>
          <a:bodyPr wrap="square" rtlCol="0">
            <a:spAutoFit/>
          </a:bodyPr>
          <a:lstStyle/>
          <a:p>
            <a:pPr algn="ctr"/>
            <a:r>
              <a:rPr lang="en-US" altLang="zh-CN" sz="6000" b="1" spc="300" dirty="0" err="1" smtClean="0">
                <a:ln w="11430" cmpd="sng">
                  <a:solidFill>
                    <a:schemeClr val="accent1">
                      <a:tint val="10000"/>
                    </a:schemeClr>
                  </a:solidFill>
                  <a:prstDash val="solid"/>
                  <a:miter lim="800000"/>
                </a:ln>
                <a:solidFill>
                  <a:schemeClr val="bg1"/>
                </a:solidFill>
                <a:effectLst>
                  <a:glow rad="45500">
                    <a:schemeClr val="accent1">
                      <a:satMod val="220000"/>
                      <a:alpha val="35000"/>
                    </a:schemeClr>
                  </a:glow>
                </a:effectLst>
                <a:latin typeface="方正舒体" panose="02010601030101010101" pitchFamily="2" charset="-122"/>
                <a:ea typeface="方正舒体" panose="02010601030101010101" pitchFamily="2" charset="-122"/>
                <a:sym typeface="+mn-ea"/>
              </a:rPr>
              <a:t>Nander</a:t>
            </a:r>
            <a:r>
              <a:rPr lang="zh-CN" altLang="en-US" sz="6000" b="1" spc="300" dirty="0">
                <a:ln w="11430" cmpd="sng">
                  <a:solidFill>
                    <a:schemeClr val="accent1">
                      <a:tint val="10000"/>
                    </a:schemeClr>
                  </a:solidFill>
                  <a:prstDash val="solid"/>
                  <a:miter lim="800000"/>
                </a:ln>
                <a:solidFill>
                  <a:schemeClr val="bg1"/>
                </a:solidFill>
                <a:effectLst>
                  <a:glow rad="45500">
                    <a:schemeClr val="accent1">
                      <a:satMod val="220000"/>
                      <a:alpha val="35000"/>
                    </a:schemeClr>
                  </a:glow>
                </a:effectLst>
                <a:latin typeface="方正舒体" panose="02010601030101010101" pitchFamily="2" charset="-122"/>
                <a:ea typeface="方正舒体" panose="02010601030101010101" pitchFamily="2" charset="-122"/>
                <a:sym typeface="+mn-ea"/>
              </a:rPr>
              <a:t>构件库</a:t>
            </a:r>
          </a:p>
        </p:txBody>
      </p:sp>
      <p:sp>
        <p:nvSpPr>
          <p:cNvPr id="5" name="文本框 4"/>
          <p:cNvSpPr txBox="1"/>
          <p:nvPr/>
        </p:nvSpPr>
        <p:spPr>
          <a:xfrm>
            <a:off x="6935569" y="4136290"/>
            <a:ext cx="2641567" cy="584775"/>
          </a:xfrm>
          <a:prstGeom prst="rect">
            <a:avLst/>
          </a:prstGeom>
          <a:noFill/>
        </p:spPr>
        <p:txBody>
          <a:bodyPr wrap="square" rtlCol="0">
            <a:spAutoFit/>
          </a:bodyPr>
          <a:lstStyle/>
          <a:p>
            <a:r>
              <a:rPr lang="zh-CN" altLang="en-US" sz="3200" dirty="0" smtClean="0">
                <a:solidFill>
                  <a:schemeClr val="bg1"/>
                </a:solidFill>
                <a:latin typeface="华文行楷" panose="02010800040101010101" pitchFamily="2" charset="-122"/>
                <a:ea typeface="华文行楷" panose="02010800040101010101" pitchFamily="2" charset="-122"/>
              </a:rPr>
              <a:t>主讲人：大鸟</a:t>
            </a:r>
            <a:endParaRPr lang="zh-CN" altLang="en-US" sz="3200" dirty="0">
              <a:solidFill>
                <a:schemeClr val="bg1"/>
              </a:solidFill>
              <a:latin typeface="华文行楷" panose="02010800040101010101" pitchFamily="2" charset="-122"/>
              <a:ea typeface="华文行楷" panose="02010800040101010101" pitchFamily="2"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rotWithShape="1">
          <a:blip r:embed="rId3" cstate="print">
            <a:extLst>
              <a:ext uri="{28A0092B-C50C-407E-A947-70E740481C1C}">
                <a14:useLocalDpi xmlns:a14="http://schemas.microsoft.com/office/drawing/2010/main" xmlns="" val="0"/>
              </a:ext>
            </a:extLst>
          </a:blip>
          <a:srcRect l="28767" r="64003"/>
          <a:stretch>
            <a:fillRect/>
          </a:stretch>
        </p:blipFill>
        <p:spPr>
          <a:xfrm>
            <a:off x="815833" y="263173"/>
            <a:ext cx="804323" cy="4467225"/>
          </a:xfrm>
          <a:prstGeom prst="rect">
            <a:avLst/>
          </a:prstGeom>
        </p:spPr>
      </p:pic>
      <p:pic>
        <p:nvPicPr>
          <p:cNvPr id="31" name="图片 30"/>
          <p:cNvPicPr>
            <a:picLocks noChangeAspect="1"/>
          </p:cNvPicPr>
          <p:nvPr/>
        </p:nvPicPr>
        <p:blipFill rotWithShape="1">
          <a:blip r:embed="rId3" cstate="print">
            <a:extLst>
              <a:ext uri="{28A0092B-C50C-407E-A947-70E740481C1C}">
                <a14:useLocalDpi xmlns:a14="http://schemas.microsoft.com/office/drawing/2010/main" xmlns="" val="0"/>
              </a:ext>
            </a:extLst>
          </a:blip>
          <a:srcRect l="28767" r="57174"/>
          <a:stretch>
            <a:fillRect/>
          </a:stretch>
        </p:blipFill>
        <p:spPr>
          <a:xfrm>
            <a:off x="3505200" y="-52588"/>
            <a:ext cx="1564116" cy="4467225"/>
          </a:xfrm>
          <a:prstGeom prst="rect">
            <a:avLst/>
          </a:prstGeom>
        </p:spPr>
      </p:pic>
      <p:pic>
        <p:nvPicPr>
          <p:cNvPr id="30" name="图片 2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0" y="-38100"/>
            <a:ext cx="12192000" cy="2284878"/>
          </a:xfrm>
          <a:prstGeom prst="rect">
            <a:avLst/>
          </a:prstGeom>
        </p:spPr>
      </p:pic>
      <p:sp>
        <p:nvSpPr>
          <p:cNvPr id="4" name="文本框 3"/>
          <p:cNvSpPr txBox="1">
            <a:spLocks noChangeArrowheads="1"/>
          </p:cNvSpPr>
          <p:nvPr/>
        </p:nvSpPr>
        <p:spPr bwMode="auto">
          <a:xfrm>
            <a:off x="1783089" y="3225662"/>
            <a:ext cx="1187877" cy="5769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8559" tIns="34280" rIns="68559" bIns="34280">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zh-CN" altLang="en-US" sz="3300"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rPr>
              <a:t>目 录</a:t>
            </a:r>
          </a:p>
        </p:txBody>
      </p:sp>
      <p:pic>
        <p:nvPicPr>
          <p:cNvPr id="33" name="图片 32"/>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630666" y="2651552"/>
            <a:ext cx="3800378" cy="1143000"/>
          </a:xfrm>
          <a:prstGeom prst="rect">
            <a:avLst/>
          </a:prstGeom>
        </p:spPr>
      </p:pic>
      <p:grpSp>
        <p:nvGrpSpPr>
          <p:cNvPr id="53" name="组合 52"/>
          <p:cNvGrpSpPr/>
          <p:nvPr/>
        </p:nvGrpSpPr>
        <p:grpSpPr>
          <a:xfrm>
            <a:off x="5484873" y="2177312"/>
            <a:ext cx="4188194" cy="816256"/>
            <a:chOff x="5996670" y="2177569"/>
            <a:chExt cx="4188194" cy="816256"/>
          </a:xfrm>
        </p:grpSpPr>
        <p:grpSp>
          <p:nvGrpSpPr>
            <p:cNvPr id="6" name="组合 93"/>
            <p:cNvGrpSpPr/>
            <p:nvPr/>
          </p:nvGrpSpPr>
          <p:grpSpPr bwMode="auto">
            <a:xfrm>
              <a:off x="6096000" y="2177569"/>
              <a:ext cx="4088864" cy="705427"/>
              <a:chOff x="246329" y="554680"/>
              <a:chExt cx="5454040" cy="941355"/>
            </a:xfrm>
          </p:grpSpPr>
          <p:sp>
            <p:nvSpPr>
              <p:cNvPr id="10" name="文本框 90"/>
              <p:cNvSpPr txBox="1">
                <a:spLocks noChangeArrowheads="1"/>
              </p:cNvSpPr>
              <p:nvPr/>
            </p:nvSpPr>
            <p:spPr bwMode="auto">
              <a:xfrm>
                <a:off x="246329" y="715686"/>
                <a:ext cx="883920" cy="7803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3200" dirty="0">
                    <a:solidFill>
                      <a:srgbClr val="476682"/>
                    </a:solidFill>
                    <a:latin typeface="方正黑体简体" panose="02000000000000000000" pitchFamily="2" charset="-122"/>
                    <a:ea typeface="方正黑体简体" panose="02000000000000000000" pitchFamily="2" charset="-122"/>
                    <a:sym typeface="方正黑体简体" panose="02000000000000000000" pitchFamily="2" charset="-122"/>
                  </a:rPr>
                  <a:t>01</a:t>
                </a:r>
              </a:p>
            </p:txBody>
          </p:sp>
          <p:sp>
            <p:nvSpPr>
              <p:cNvPr id="8" name="文本框 92"/>
              <p:cNvSpPr txBox="1">
                <a:spLocks noChangeArrowheads="1"/>
              </p:cNvSpPr>
              <p:nvPr/>
            </p:nvSpPr>
            <p:spPr bwMode="auto">
              <a:xfrm>
                <a:off x="1268804" y="554680"/>
                <a:ext cx="4431565" cy="8624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3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介绍</a:t>
                </a:r>
                <a:endParaRPr lang="zh-CN" altLang="en-US" sz="36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p:txBody>
          </p:sp>
        </p:grpSp>
        <p:sp>
          <p:nvSpPr>
            <p:cNvPr id="39" name="泪滴形 38"/>
            <p:cNvSpPr/>
            <p:nvPr/>
          </p:nvSpPr>
          <p:spPr>
            <a:xfrm>
              <a:off x="5996670" y="2250875"/>
              <a:ext cx="742950" cy="742950"/>
            </a:xfrm>
            <a:prstGeom prst="teardrop">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nvGrpSpPr>
          <p:cNvPr id="54" name="组合 53"/>
          <p:cNvGrpSpPr/>
          <p:nvPr/>
        </p:nvGrpSpPr>
        <p:grpSpPr>
          <a:xfrm>
            <a:off x="5484873" y="3139007"/>
            <a:ext cx="5724795" cy="833672"/>
            <a:chOff x="6071633" y="3116400"/>
            <a:chExt cx="5724795" cy="833672"/>
          </a:xfrm>
        </p:grpSpPr>
        <p:grpSp>
          <p:nvGrpSpPr>
            <p:cNvPr id="41" name="组合 93"/>
            <p:cNvGrpSpPr/>
            <p:nvPr/>
          </p:nvGrpSpPr>
          <p:grpSpPr bwMode="auto">
            <a:xfrm>
              <a:off x="6170963" y="3116400"/>
              <a:ext cx="5625465" cy="722845"/>
              <a:chOff x="246329" y="531440"/>
              <a:chExt cx="7503676" cy="964595"/>
            </a:xfrm>
          </p:grpSpPr>
          <p:sp>
            <p:nvSpPr>
              <p:cNvPr id="42" name="文本框 90"/>
              <p:cNvSpPr txBox="1">
                <a:spLocks noChangeArrowheads="1"/>
              </p:cNvSpPr>
              <p:nvPr/>
            </p:nvSpPr>
            <p:spPr bwMode="auto">
              <a:xfrm>
                <a:off x="246329" y="715686"/>
                <a:ext cx="883920" cy="7803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3200" dirty="0">
                    <a:solidFill>
                      <a:srgbClr val="476682"/>
                    </a:solidFill>
                    <a:latin typeface="方正黑体简体" panose="02000000000000000000" pitchFamily="2" charset="-122"/>
                    <a:ea typeface="方正黑体简体" panose="02000000000000000000" pitchFamily="2" charset="-122"/>
                    <a:sym typeface="方正黑体简体" panose="02000000000000000000" pitchFamily="2" charset="-122"/>
                  </a:rPr>
                  <a:t>02</a:t>
                </a:r>
              </a:p>
            </p:txBody>
          </p:sp>
          <p:sp>
            <p:nvSpPr>
              <p:cNvPr id="43" name="文本框 92"/>
              <p:cNvSpPr txBox="1">
                <a:spLocks noChangeArrowheads="1"/>
              </p:cNvSpPr>
              <p:nvPr/>
            </p:nvSpPr>
            <p:spPr bwMode="auto">
              <a:xfrm>
                <a:off x="1152631" y="531440"/>
                <a:ext cx="6597374" cy="8624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en-US" altLang="zh-CN" sz="2400" dirty="0" smtClean="0">
                    <a:solidFill>
                      <a:srgbClr val="476682"/>
                    </a:solidFill>
                    <a:latin typeface="微软雅黑" panose="020B0503020204020204" charset="-122"/>
                    <a:ea typeface="微软雅黑" panose="020B0503020204020204" charset="-122"/>
                    <a:cs typeface="微软雅黑" panose="020B0503020204020204" charset="-122"/>
                    <a:sym typeface="+mn-ea"/>
                  </a:rPr>
                  <a:t> </a:t>
                </a:r>
                <a:r>
                  <a:rPr lang="en-US" altLang="zh-CN" sz="3600" dirty="0" err="1">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36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36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九</a:t>
                </a:r>
                <a:r>
                  <a:rPr lang="zh-CN" altLang="en-US"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大成员</a:t>
                </a:r>
                <a:endParaRPr lang="en-US" altLang="zh-CN" sz="36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grpSp>
        <p:sp>
          <p:nvSpPr>
            <p:cNvPr id="44" name="泪滴形 43"/>
            <p:cNvSpPr/>
            <p:nvPr/>
          </p:nvSpPr>
          <p:spPr>
            <a:xfrm>
              <a:off x="6071633" y="3207122"/>
              <a:ext cx="742950" cy="742950"/>
            </a:xfrm>
            <a:prstGeom prst="teardrop">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nvGrpSpPr>
          <p:cNvPr id="56" name="组合 55"/>
          <p:cNvGrpSpPr/>
          <p:nvPr/>
        </p:nvGrpSpPr>
        <p:grpSpPr>
          <a:xfrm>
            <a:off x="5484873" y="4151673"/>
            <a:ext cx="4922790" cy="843297"/>
            <a:chOff x="6086244" y="4092412"/>
            <a:chExt cx="4922790" cy="843297"/>
          </a:xfrm>
        </p:grpSpPr>
        <p:grpSp>
          <p:nvGrpSpPr>
            <p:cNvPr id="45" name="组合 93"/>
            <p:cNvGrpSpPr/>
            <p:nvPr/>
          </p:nvGrpSpPr>
          <p:grpSpPr bwMode="auto">
            <a:xfrm>
              <a:off x="6185574" y="4092412"/>
              <a:ext cx="4823460" cy="732470"/>
              <a:chOff x="246329" y="518596"/>
              <a:chExt cx="6433900" cy="977439"/>
            </a:xfrm>
          </p:grpSpPr>
          <p:sp>
            <p:nvSpPr>
              <p:cNvPr id="46" name="文本框 90"/>
              <p:cNvSpPr txBox="1">
                <a:spLocks noChangeArrowheads="1"/>
              </p:cNvSpPr>
              <p:nvPr/>
            </p:nvSpPr>
            <p:spPr bwMode="auto">
              <a:xfrm>
                <a:off x="246329" y="715686"/>
                <a:ext cx="883920" cy="7803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3200" dirty="0">
                    <a:solidFill>
                      <a:srgbClr val="476682"/>
                    </a:solidFill>
                    <a:latin typeface="方正黑体简体" panose="02000000000000000000" pitchFamily="2" charset="-122"/>
                    <a:ea typeface="方正黑体简体" panose="02000000000000000000" pitchFamily="2" charset="-122"/>
                    <a:sym typeface="方正黑体简体" panose="02000000000000000000" pitchFamily="2" charset="-122"/>
                  </a:rPr>
                  <a:t>03</a:t>
                </a:r>
              </a:p>
            </p:txBody>
          </p:sp>
          <p:sp>
            <p:nvSpPr>
              <p:cNvPr id="47" name="文本框 92"/>
              <p:cNvSpPr txBox="1">
                <a:spLocks noChangeArrowheads="1"/>
              </p:cNvSpPr>
              <p:nvPr/>
            </p:nvSpPr>
            <p:spPr bwMode="auto">
              <a:xfrm>
                <a:off x="1152631" y="518596"/>
                <a:ext cx="5527598" cy="8624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r>
                  <a:rPr lang="zh-CN" altLang="en-US" sz="2400" dirty="0" smtClean="0">
                    <a:solidFill>
                      <a:srgbClr val="476682"/>
                    </a:solidFill>
                    <a:latin typeface="微软雅黑" panose="020B0503020204020204" charset="-122"/>
                    <a:ea typeface="微软雅黑" panose="020B0503020204020204" charset="-122"/>
                    <a:cs typeface="微软雅黑" panose="020B0503020204020204" charset="-122"/>
                    <a:sym typeface="+mn-ea"/>
                  </a:rPr>
                  <a:t> </a:t>
                </a:r>
                <a:r>
                  <a:rPr lang="en-US" altLang="zh-CN" sz="3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之道</a:t>
                </a:r>
                <a:endParaRPr lang="zh-CN" altLang="en-US" sz="36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p:txBody>
          </p:sp>
        </p:grpSp>
        <p:sp>
          <p:nvSpPr>
            <p:cNvPr id="48" name="泪滴形 47"/>
            <p:cNvSpPr/>
            <p:nvPr/>
          </p:nvSpPr>
          <p:spPr>
            <a:xfrm>
              <a:off x="6086244" y="4192759"/>
              <a:ext cx="742950" cy="742950"/>
            </a:xfrm>
            <a:prstGeom prst="teardrop">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grpSp>
        <p:nvGrpSpPr>
          <p:cNvPr id="55" name="组合 54"/>
          <p:cNvGrpSpPr/>
          <p:nvPr/>
        </p:nvGrpSpPr>
        <p:grpSpPr>
          <a:xfrm>
            <a:off x="5484873" y="5062539"/>
            <a:ext cx="5366655" cy="1015663"/>
            <a:chOff x="6170963" y="5053271"/>
            <a:chExt cx="5366655" cy="1015663"/>
          </a:xfrm>
        </p:grpSpPr>
        <p:grpSp>
          <p:nvGrpSpPr>
            <p:cNvPr id="49" name="组合 93"/>
            <p:cNvGrpSpPr/>
            <p:nvPr/>
          </p:nvGrpSpPr>
          <p:grpSpPr bwMode="auto">
            <a:xfrm>
              <a:off x="6270293" y="5053271"/>
              <a:ext cx="5267325" cy="1015663"/>
              <a:chOff x="246329" y="480064"/>
              <a:chExt cx="7025961" cy="1355344"/>
            </a:xfrm>
          </p:grpSpPr>
          <p:sp>
            <p:nvSpPr>
              <p:cNvPr id="50" name="文本框 90"/>
              <p:cNvSpPr txBox="1">
                <a:spLocks noChangeArrowheads="1"/>
              </p:cNvSpPr>
              <p:nvPr/>
            </p:nvSpPr>
            <p:spPr bwMode="auto">
              <a:xfrm>
                <a:off x="246329" y="715686"/>
                <a:ext cx="883920" cy="7803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3200" dirty="0">
                    <a:solidFill>
                      <a:srgbClr val="476682"/>
                    </a:solidFill>
                    <a:latin typeface="方正黑体简体" panose="02000000000000000000" pitchFamily="2" charset="-122"/>
                    <a:ea typeface="方正黑体简体" panose="02000000000000000000" pitchFamily="2" charset="-122"/>
                    <a:sym typeface="方正黑体简体" panose="02000000000000000000" pitchFamily="2" charset="-122"/>
                  </a:rPr>
                  <a:t>04</a:t>
                </a:r>
              </a:p>
            </p:txBody>
          </p:sp>
          <p:sp>
            <p:nvSpPr>
              <p:cNvPr id="51" name="文本框 92"/>
              <p:cNvSpPr txBox="1">
                <a:spLocks noChangeArrowheads="1"/>
              </p:cNvSpPr>
              <p:nvPr/>
            </p:nvSpPr>
            <p:spPr bwMode="auto">
              <a:xfrm>
                <a:off x="1152631" y="480064"/>
                <a:ext cx="6119659" cy="13553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r>
                  <a:rPr lang="zh-CN" altLang="en-US" sz="2400" dirty="0" smtClean="0">
                    <a:solidFill>
                      <a:srgbClr val="476682"/>
                    </a:solidFill>
                    <a:latin typeface="微软雅黑" panose="020B0503020204020204" charset="-122"/>
                    <a:ea typeface="微软雅黑" panose="020B0503020204020204" charset="-122"/>
                    <a:cs typeface="微软雅黑" panose="020B0503020204020204" charset="-122"/>
                    <a:sym typeface="+mn-ea"/>
                  </a:rPr>
                  <a:t> </a:t>
                </a:r>
                <a:r>
                  <a:rPr lang="en-US" altLang="zh-CN" sz="3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3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成员</a:t>
                </a:r>
                <a:endParaRPr lang="zh-CN" altLang="en-US" sz="36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gn="l"/>
                <a:r>
                  <a:rPr lang="zh-CN" altLang="en-US" sz="2400" b="1" dirty="0">
                    <a:solidFill>
                      <a:srgbClr val="476682"/>
                    </a:solidFill>
                    <a:latin typeface="微软雅黑" panose="020B0503020204020204" charset="-122"/>
                    <a:ea typeface="微软雅黑" panose="020B0503020204020204" charset="-122"/>
                    <a:cs typeface="微软雅黑" panose="020B0503020204020204" charset="-122"/>
                    <a:sym typeface="+mn-ea"/>
                  </a:rPr>
                  <a:t> </a:t>
                </a:r>
                <a:endParaRPr lang="zh-CN" altLang="en-US" sz="2400" dirty="0">
                  <a:solidFill>
                    <a:schemeClr val="accent2"/>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sp>
          <p:nvSpPr>
            <p:cNvPr id="52" name="泪滴形 51"/>
            <p:cNvSpPr/>
            <p:nvPr/>
          </p:nvSpPr>
          <p:spPr>
            <a:xfrm>
              <a:off x="6170963" y="5182493"/>
              <a:ext cx="742950" cy="742950"/>
            </a:xfrm>
            <a:prstGeom prst="teardrop">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latin typeface="方正黑体简体" panose="02000000000000000000" pitchFamily="2" charset="-122"/>
                <a:ea typeface="方正黑体简体" panose="02000000000000000000" pitchFamily="2" charset="-122"/>
                <a:sym typeface="方正黑体简体" panose="02000000000000000000" pitchFamily="2" charset="-122"/>
              </a:endParaRPr>
            </a:p>
          </p:txBody>
        </p:sp>
      </p:grpSp>
      <p:pic>
        <p:nvPicPr>
          <p:cNvPr id="58" name="图片 57"/>
          <p:cNvPicPr>
            <a:picLocks noChangeAspect="1"/>
          </p:cNvPicPr>
          <p:nvPr/>
        </p:nvPicPr>
        <p:blipFill rotWithShape="1">
          <a:blip r:embed="rId6" cstate="print">
            <a:extLst>
              <a:ext uri="{28A0092B-C50C-407E-A947-70E740481C1C}">
                <a14:useLocalDpi xmlns:a14="http://schemas.microsoft.com/office/drawing/2010/main" xmlns="" val="0"/>
              </a:ext>
            </a:extLst>
          </a:blip>
          <a:srcRect r="58310"/>
          <a:stretch>
            <a:fillRect/>
          </a:stretch>
        </p:blipFill>
        <p:spPr>
          <a:xfrm>
            <a:off x="571198" y="2839912"/>
            <a:ext cx="2992072" cy="3653145"/>
          </a:xfrm>
          <a:prstGeom prst="rect">
            <a:avLst/>
          </a:prstGeom>
        </p:spPr>
      </p:pic>
      <p:pic>
        <p:nvPicPr>
          <p:cNvPr id="59" name="图片 58"/>
          <p:cNvPicPr>
            <a:picLocks noChangeAspect="1"/>
          </p:cNvPicPr>
          <p:nvPr/>
        </p:nvPicPr>
        <p:blipFill rotWithShape="1">
          <a:blip r:embed="rId6" cstate="print">
            <a:extLst>
              <a:ext uri="{28A0092B-C50C-407E-A947-70E740481C1C}">
                <a14:useLocalDpi xmlns:a14="http://schemas.microsoft.com/office/drawing/2010/main" xmlns="" val="0"/>
              </a:ext>
            </a:extLst>
          </a:blip>
          <a:srcRect l="71234" b="67638"/>
          <a:stretch>
            <a:fillRect/>
          </a:stretch>
        </p:blipFill>
        <p:spPr>
          <a:xfrm>
            <a:off x="9376653" y="2628399"/>
            <a:ext cx="2064516" cy="1182223"/>
          </a:xfrm>
          <a:prstGeom prst="rect">
            <a:avLst/>
          </a:prstGeom>
        </p:spPr>
      </p:pic>
      <p:pic>
        <p:nvPicPr>
          <p:cNvPr id="60" name="图片 59"/>
          <p:cNvPicPr>
            <a:picLocks noChangeAspect="1"/>
          </p:cNvPicPr>
          <p:nvPr/>
        </p:nvPicPr>
        <p:blipFill rotWithShape="1">
          <a:blip r:embed="rId6" cstate="print">
            <a:extLst>
              <a:ext uri="{28A0092B-C50C-407E-A947-70E740481C1C}">
                <a14:useLocalDpi xmlns:a14="http://schemas.microsoft.com/office/drawing/2010/main" xmlns="" val="0"/>
              </a:ext>
            </a:extLst>
          </a:blip>
          <a:srcRect l="71234" b="67638"/>
          <a:stretch>
            <a:fillRect/>
          </a:stretch>
        </p:blipFill>
        <p:spPr>
          <a:xfrm>
            <a:off x="2201064" y="4414240"/>
            <a:ext cx="2064516" cy="1182223"/>
          </a:xfrm>
          <a:prstGeom prst="rect">
            <a:avLst/>
          </a:prstGeom>
        </p:spPr>
      </p:pic>
      <p:sp>
        <p:nvSpPr>
          <p:cNvPr id="61" name="文本框 60"/>
          <p:cNvSpPr txBox="1"/>
          <p:nvPr/>
        </p:nvSpPr>
        <p:spPr>
          <a:xfrm>
            <a:off x="1549608" y="2561740"/>
            <a:ext cx="1877437" cy="1107996"/>
          </a:xfrm>
          <a:prstGeom prst="rect">
            <a:avLst/>
          </a:prstGeom>
          <a:noFill/>
        </p:spPr>
        <p:txBody>
          <a:bodyPr wrap="none" rtlCol="0">
            <a:spAutoFit/>
          </a:bodyPr>
          <a:lstStyle/>
          <a:p>
            <a:r>
              <a:rPr lang="zh-CN" altLang="en-US" sz="6600" b="1" dirty="0">
                <a:solidFill>
                  <a:schemeClr val="bg1"/>
                </a:solidFill>
                <a:latin typeface="方正黑体简体" panose="02000000000000000000" pitchFamily="2" charset="-122"/>
                <a:ea typeface="方正黑体简体" panose="02000000000000000000" pitchFamily="2" charset="-122"/>
                <a:sym typeface="方正黑体简体" panose="02000000000000000000" pitchFamily="2" charset="-122"/>
              </a:rPr>
              <a:t>目录</a:t>
            </a:r>
          </a:p>
        </p:txBody>
      </p:sp>
      <p:pic>
        <p:nvPicPr>
          <p:cNvPr id="62" name="图片 61"/>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flipH="1">
            <a:off x="10050093" y="4533788"/>
            <a:ext cx="2612621" cy="2221183"/>
          </a:xfrm>
          <a:prstGeom prst="rect">
            <a:avLst/>
          </a:prstGeom>
        </p:spPr>
      </p:pic>
      <p:pic>
        <p:nvPicPr>
          <p:cNvPr id="63" name="图片 62"/>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708504" y="5761367"/>
            <a:ext cx="793716" cy="692698"/>
          </a:xfrm>
          <a:prstGeom prst="rect">
            <a:avLst/>
          </a:prstGeom>
        </p:spPr>
      </p:pic>
      <p:pic>
        <p:nvPicPr>
          <p:cNvPr id="64" name="图片 63"/>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a:off x="8027439" y="1245575"/>
            <a:ext cx="1090335" cy="646333"/>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0">
        <p:random/>
      </p:transition>
    </mc:Choice>
    <mc:Fallback>
      <p:transition spd="slow" advClick="0" advTm="0">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45c407e3387dca278e382816eec1a0d2"/>
          <p:cNvPicPr>
            <a:picLocks noChangeAspect="1"/>
          </p:cNvPicPr>
          <p:nvPr/>
        </p:nvPicPr>
        <p:blipFill>
          <a:blip r:embed="rId3" cstate="print"/>
          <a:stretch>
            <a:fillRect/>
          </a:stretch>
        </p:blipFill>
        <p:spPr>
          <a:xfrm>
            <a:off x="-11430" y="2548708"/>
            <a:ext cx="12197715" cy="4303395"/>
          </a:xfrm>
          <a:prstGeom prst="rect">
            <a:avLst/>
          </a:prstGeom>
        </p:spPr>
      </p:pic>
      <p:pic>
        <p:nvPicPr>
          <p:cNvPr id="4" name="图片 3" descr="5b6ce715ee482"/>
          <p:cNvPicPr>
            <a:picLocks noChangeAspect="1"/>
          </p:cNvPicPr>
          <p:nvPr/>
        </p:nvPicPr>
        <p:blipFill>
          <a:blip r:embed="rId4" cstate="print"/>
          <a:stretch>
            <a:fillRect/>
          </a:stretch>
        </p:blipFill>
        <p:spPr>
          <a:xfrm>
            <a:off x="3891915" y="3671570"/>
            <a:ext cx="4408805" cy="3109595"/>
          </a:xfrm>
          <a:prstGeom prst="rect">
            <a:avLst/>
          </a:prstGeom>
        </p:spPr>
      </p:pic>
      <p:pic>
        <p:nvPicPr>
          <p:cNvPr id="5" name="图片 4" descr="6e3e461d6fe4261ffac34bab182ac1ed"/>
          <p:cNvPicPr>
            <a:picLocks noChangeAspect="1"/>
          </p:cNvPicPr>
          <p:nvPr/>
        </p:nvPicPr>
        <p:blipFill>
          <a:blip r:embed="rId5" cstate="print"/>
          <a:stretch>
            <a:fillRect/>
          </a:stretch>
        </p:blipFill>
        <p:spPr>
          <a:xfrm>
            <a:off x="1730450" y="328370"/>
            <a:ext cx="8569960" cy="4753610"/>
          </a:xfrm>
          <a:prstGeom prst="rect">
            <a:avLst/>
          </a:prstGeom>
        </p:spPr>
      </p:pic>
      <p:sp>
        <p:nvSpPr>
          <p:cNvPr id="17" name="文本框 16"/>
          <p:cNvSpPr txBox="1"/>
          <p:nvPr/>
        </p:nvSpPr>
        <p:spPr>
          <a:xfrm>
            <a:off x="3571927" y="2384525"/>
            <a:ext cx="5548329" cy="1198880"/>
          </a:xfrm>
          <a:prstGeom prst="rect">
            <a:avLst/>
          </a:prstGeom>
          <a:noFill/>
        </p:spPr>
        <p:txBody>
          <a:bodyPr wrap="square" rtlCol="0">
            <a:spAutoFit/>
          </a:bodyPr>
          <a:lstStyle/>
          <a:p>
            <a:pPr algn="l"/>
            <a:r>
              <a:rPr lang="en-US" altLang="zh-CN" sz="7200" dirty="0" err="1" smtClean="0">
                <a:solidFill>
                  <a:srgbClr val="476682"/>
                </a:solidFill>
                <a:latin typeface="方正舒体" panose="02010601030101010101" pitchFamily="2" charset="-122"/>
                <a:ea typeface="方正舒体" panose="02010601030101010101" pitchFamily="2" charset="-122"/>
                <a:sym typeface="+mn-ea"/>
              </a:rPr>
              <a:t>Nander</a:t>
            </a:r>
            <a:r>
              <a:rPr lang="en-US" altLang="zh-CN" sz="7200" dirty="0" smtClean="0">
                <a:solidFill>
                  <a:srgbClr val="476682"/>
                </a:solidFill>
                <a:latin typeface="方正舒体" panose="02010601030101010101" pitchFamily="2" charset="-122"/>
                <a:ea typeface="方正舒体" panose="02010601030101010101" pitchFamily="2" charset="-122"/>
                <a:sym typeface="+mn-ea"/>
              </a:rPr>
              <a:t> </a:t>
            </a:r>
            <a:r>
              <a:rPr lang="zh-CN" altLang="en-US" sz="7200" dirty="0" smtClean="0">
                <a:solidFill>
                  <a:srgbClr val="476682"/>
                </a:solidFill>
                <a:latin typeface="方正舒体" panose="02010601030101010101" pitchFamily="2" charset="-122"/>
                <a:ea typeface="方正舒体" panose="02010601030101010101" pitchFamily="2" charset="-122"/>
                <a:sym typeface="+mn-ea"/>
              </a:rPr>
              <a:t>介绍</a:t>
            </a:r>
            <a:endParaRPr lang="zh-CN" altLang="en-US" sz="7200" b="1" dirty="0">
              <a:solidFill>
                <a:srgbClr val="476682"/>
              </a:solidFill>
              <a:latin typeface="方正舒体" panose="02010601030101010101" pitchFamily="2" charset="-122"/>
              <a:ea typeface="方正舒体" panose="02010601030101010101" pitchFamily="2" charset="-122"/>
              <a:cs typeface="★儿童字体——迷你简卡通" panose="03000509000000000000" charset="-122"/>
              <a:sym typeface="+mn-ea"/>
            </a:endParaRPr>
          </a:p>
        </p:txBody>
      </p:sp>
      <p:sp>
        <p:nvSpPr>
          <p:cNvPr id="27" name="文本框 26"/>
          <p:cNvSpPr txBox="1"/>
          <p:nvPr/>
        </p:nvSpPr>
        <p:spPr>
          <a:xfrm>
            <a:off x="5931535" y="1053465"/>
            <a:ext cx="622286" cy="1569660"/>
          </a:xfrm>
          <a:prstGeom prst="rect">
            <a:avLst/>
          </a:prstGeom>
          <a:noFill/>
        </p:spPr>
        <p:txBody>
          <a:bodyPr wrap="none" rtlCol="0">
            <a:spAutoFit/>
          </a:bodyPr>
          <a:lstStyle/>
          <a:p>
            <a:r>
              <a:rPr lang="en-US" altLang="zh-CN" sz="9600" b="1" dirty="0">
                <a:solidFill>
                  <a:srgbClr val="476682"/>
                </a:solidFill>
                <a:latin typeface="方正舒体" panose="02010601030101010101" pitchFamily="2" charset="-122"/>
                <a:ea typeface="方正舒体" panose="02010601030101010101" pitchFamily="2" charset="-122"/>
              </a:rPr>
              <a:t>1</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6ccb8bc6dbe83c6ae811819d70909b6f"/>
          <p:cNvPicPr>
            <a:picLocks noChangeAspect="1"/>
          </p:cNvPicPr>
          <p:nvPr/>
        </p:nvPicPr>
        <p:blipFill>
          <a:blip r:embed="rId3" cstate="print"/>
          <a:stretch>
            <a:fillRect/>
          </a:stretch>
        </p:blipFill>
        <p:spPr>
          <a:xfrm>
            <a:off x="0" y="3303885"/>
            <a:ext cx="12191999" cy="3552190"/>
          </a:xfrm>
          <a:prstGeom prst="rect">
            <a:avLst/>
          </a:prstGeom>
        </p:spPr>
      </p:pic>
      <p:pic>
        <p:nvPicPr>
          <p:cNvPr id="8195" name="图片 15"/>
          <p:cNvPicPr>
            <a:picLocks noChangeAspect="1"/>
          </p:cNvPicPr>
          <p:nvPr/>
        </p:nvPicPr>
        <p:blipFill>
          <a:blip r:embed="rId4" cstate="print"/>
          <a:stretch>
            <a:fillRect/>
          </a:stretch>
        </p:blipFill>
        <p:spPr>
          <a:xfrm>
            <a:off x="323533" y="2044383"/>
            <a:ext cx="3890962" cy="4705350"/>
          </a:xfrm>
          <a:prstGeom prst="rect">
            <a:avLst/>
          </a:prstGeom>
          <a:noFill/>
          <a:ln w="9525">
            <a:noFill/>
          </a:ln>
        </p:spPr>
      </p:pic>
      <p:sp>
        <p:nvSpPr>
          <p:cNvPr id="4" name="矩形 3"/>
          <p:cNvSpPr/>
          <p:nvPr/>
        </p:nvSpPr>
        <p:spPr>
          <a:xfrm>
            <a:off x="4013736" y="197919"/>
            <a:ext cx="7632834" cy="4154984"/>
          </a:xfrm>
          <a:prstGeom prst="rect">
            <a:avLst/>
          </a:prstGeom>
        </p:spPr>
        <p:txBody>
          <a:bodyPr wrap="square">
            <a:spAutoFit/>
          </a:bodyPr>
          <a:lstStyle/>
          <a:p>
            <a:r>
              <a:rPr lang="en-US" altLang="zh-CN" sz="2800" b="1" dirty="0">
                <a:solidFill>
                  <a:srgbClr val="34705E"/>
                </a:solidFill>
                <a:latin typeface="微软雅黑" panose="020B0503020204020204" charset="-122"/>
                <a:ea typeface="微软雅黑" panose="020B0503020204020204" charset="-122"/>
              </a:rPr>
              <a:t>                   </a:t>
            </a:r>
            <a:r>
              <a:rPr lang="zh-CN" altLang="en-US" sz="4000" b="1" dirty="0">
                <a:solidFill>
                  <a:srgbClr val="34705E"/>
                </a:solidFill>
                <a:latin typeface="方正舒体" panose="02010601030101010101" pitchFamily="2" charset="-122"/>
                <a:ea typeface="方正舒体" panose="02010601030101010101" pitchFamily="2" charset="-122"/>
              </a:rPr>
              <a:t>设 立 宗 </a:t>
            </a:r>
            <a:r>
              <a:rPr lang="zh-CN" altLang="en-US" sz="4000" b="1" dirty="0" smtClean="0">
                <a:solidFill>
                  <a:srgbClr val="34705E"/>
                </a:solidFill>
                <a:latin typeface="方正舒体" panose="02010601030101010101" pitchFamily="2" charset="-122"/>
                <a:ea typeface="方正舒体" panose="02010601030101010101" pitchFamily="2" charset="-122"/>
              </a:rPr>
              <a:t>旨</a:t>
            </a:r>
            <a:endParaRPr lang="en-US" altLang="zh-CN" sz="4000" b="1" dirty="0" smtClean="0">
              <a:solidFill>
                <a:srgbClr val="34705E"/>
              </a:solidFill>
              <a:latin typeface="方正舒体" panose="02010601030101010101" pitchFamily="2" charset="-122"/>
              <a:ea typeface="方正舒体" panose="02010601030101010101" pitchFamily="2" charset="-122"/>
            </a:endParaRPr>
          </a:p>
          <a:p>
            <a:endParaRPr lang="en-US" altLang="zh-CN" sz="2400" b="1" dirty="0">
              <a:solidFill>
                <a:srgbClr val="34705E"/>
              </a:solidFill>
              <a:latin typeface="方正舒体" panose="02010601030101010101" pitchFamily="2" charset="-122"/>
              <a:ea typeface="方正舒体" panose="02010601030101010101" pitchFamily="2" charset="-122"/>
            </a:endParaRPr>
          </a:p>
          <a:p>
            <a:pPr marL="285750" indent="-285750">
              <a:buFont typeface="Arial" panose="020B0604020202020204" pitchFamily="34" charset="0"/>
              <a:buChar char="•"/>
            </a:pPr>
            <a:r>
              <a:rPr lang="en-US" altLang="zh-CN" sz="2000" b="1"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最初目的是</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希望建立一套统一的研发标准框架以</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消除</a:t>
            </a:r>
            <a:r>
              <a:rPr lang="zh-CN" altLang="zh-CN"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糖果色</a:t>
            </a:r>
            <a:r>
              <a:rPr lang="zh-CN"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代码</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，帮助</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企业研发部门将</a:t>
            </a:r>
            <a:r>
              <a:rPr lang="zh-CN" altLang="zh-CN"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编码风格打造成像秦军阵列那般</a:t>
            </a:r>
            <a:r>
              <a:rPr lang="zh-CN"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整洁</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，以此提升研发质量，从</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代</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码层提供降本增效的作用。</a:t>
            </a:r>
            <a:endPar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285750" indent="-285750">
              <a:buFont typeface="Arial" panose="020B0604020202020204" pitchFamily="34" charset="0"/>
              <a:buChar char="•"/>
            </a:pPr>
            <a:endParaRPr lang="en-US" altLang="zh-CN" sz="2000" b="1"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285750" indent="-285750">
              <a:buFont typeface="Arial" panose="020B0604020202020204" pitchFamily="34" charset="0"/>
              <a:buChar char="•"/>
            </a:pPr>
            <a:r>
              <a:rPr lang="en-US" altLang="zh-CN" sz="2000" b="1"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是从</a:t>
            </a:r>
            <a:r>
              <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JAVA</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技术开始构建</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的，这是因为</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大鸟职业的关系，但是</a:t>
            </a:r>
            <a:r>
              <a:rPr lang="en-US" altLang="zh-CN" sz="2000" b="1"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对象是全系列技术，不局限于</a:t>
            </a:r>
            <a:r>
              <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IT</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技术。</a:t>
            </a:r>
            <a:endPar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285750" indent="-285750">
              <a:buFont typeface="Arial" panose="020B0604020202020204" pitchFamily="34" charset="0"/>
              <a:buChar char="•"/>
            </a:pPr>
            <a:endParaRPr lang="en-US" altLang="zh-CN" sz="2000" b="1"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285750" indent="-285750">
              <a:buFont typeface="Arial" panose="020B0604020202020204" pitchFamily="34" charset="0"/>
              <a:buChar char="•"/>
            </a:pPr>
            <a:r>
              <a:rPr lang="en-US" altLang="zh-CN" sz="2000" b="1" dirty="0" err="1">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宗旨在于</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宣传“前人栽树，后人乘凉”的感恩行为理念，不仅避免重复造轮子的内耗行为，还能把精力放在更高的层面做更有价值的事情，</a:t>
            </a:r>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推动</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中华民族技术事业更快的向前发展。</a:t>
            </a:r>
            <a:endPar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sp>
        <p:nvSpPr>
          <p:cNvPr id="6" name="矩形 5"/>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介绍</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wipe(down)">
                                      <p:cBhvr>
                                        <p:cTn id="7" dur="500"/>
                                        <p:tgtEl>
                                          <p:spTgt spid="8195"/>
                                        </p:tgtEl>
                                      </p:cBhvr>
                                    </p:animEffect>
                                  </p:childTnLst>
                                </p:cTn>
                              </p:par>
                            </p:childTnLst>
                          </p:cTn>
                        </p:par>
                        <p:par>
                          <p:cTn id="8" fill="hold">
                            <p:stCondLst>
                              <p:cond delay="500"/>
                            </p:stCondLst>
                            <p:childTnLst>
                              <p:par>
                                <p:cTn id="9" presetID="54" presetClass="entr" presetSubtype="0" accel="10000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strVal val="#ppt_w*0.05"/>
                                          </p:val>
                                        </p:tav>
                                        <p:tav tm="100000">
                                          <p:val>
                                            <p:strVal val="#ppt_w"/>
                                          </p:val>
                                        </p:tav>
                                      </p:tavLst>
                                    </p:anim>
                                    <p:anim calcmode="lin" valueType="num">
                                      <p:cBhvr>
                                        <p:cTn id="12" dur="1000" fill="hold"/>
                                        <p:tgtEl>
                                          <p:spTgt spid="4"/>
                                        </p:tgtEl>
                                        <p:attrNameLst>
                                          <p:attrName>ppt_h</p:attrName>
                                        </p:attrNameLst>
                                      </p:cBhvr>
                                      <p:tavLst>
                                        <p:tav tm="0">
                                          <p:val>
                                            <p:strVal val="#ppt_h"/>
                                          </p:val>
                                        </p:tav>
                                        <p:tav tm="100000">
                                          <p:val>
                                            <p:strVal val="#ppt_h"/>
                                          </p:val>
                                        </p:tav>
                                      </p:tavLst>
                                    </p:anim>
                                    <p:anim calcmode="lin" valueType="num">
                                      <p:cBhvr>
                                        <p:cTn id="13" dur="1000" fill="hold"/>
                                        <p:tgtEl>
                                          <p:spTgt spid="4"/>
                                        </p:tgtEl>
                                        <p:attrNameLst>
                                          <p:attrName>ppt_x</p:attrName>
                                        </p:attrNameLst>
                                      </p:cBhvr>
                                      <p:tavLst>
                                        <p:tav tm="0">
                                          <p:val>
                                            <p:strVal val="#ppt_x-.2"/>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6ccb8bc6dbe83c6ae811819d70909b6f"/>
          <p:cNvPicPr>
            <a:picLocks noChangeAspect="1"/>
          </p:cNvPicPr>
          <p:nvPr/>
        </p:nvPicPr>
        <p:blipFill>
          <a:blip r:embed="rId4" cstate="print"/>
          <a:stretch>
            <a:fillRect/>
          </a:stretch>
        </p:blipFill>
        <p:spPr>
          <a:xfrm>
            <a:off x="0" y="3303885"/>
            <a:ext cx="12191999" cy="3552190"/>
          </a:xfrm>
          <a:prstGeom prst="rect">
            <a:avLst/>
          </a:prstGeom>
        </p:spPr>
      </p:pic>
      <p:pic>
        <p:nvPicPr>
          <p:cNvPr id="4" name="PA_图片 6"/>
          <p:cNvPicPr>
            <a:picLocks noChangeAspect="1"/>
          </p:cNvPicPr>
          <p:nvPr>
            <p:custDataLst>
              <p:tags r:id="rId1"/>
            </p:custDataLst>
          </p:nvPr>
        </p:nvPicPr>
        <p:blipFill>
          <a:blip r:embed="rId5" cstate="print"/>
          <a:stretch>
            <a:fillRect/>
          </a:stretch>
        </p:blipFill>
        <p:spPr>
          <a:xfrm>
            <a:off x="2067560" y="-307209"/>
            <a:ext cx="7807960" cy="7807960"/>
          </a:xfrm>
          <a:prstGeom prst="rect">
            <a:avLst/>
          </a:prstGeom>
          <a:noFill/>
          <a:ln w="9525">
            <a:noFill/>
          </a:ln>
        </p:spPr>
      </p:pic>
      <p:sp>
        <p:nvSpPr>
          <p:cNvPr id="10" name="文本框 9"/>
          <p:cNvSpPr txBox="1"/>
          <p:nvPr/>
        </p:nvSpPr>
        <p:spPr>
          <a:xfrm>
            <a:off x="3181218" y="1711000"/>
            <a:ext cx="4995545" cy="3111108"/>
          </a:xfrm>
          <a:prstGeom prst="rect">
            <a:avLst/>
          </a:prstGeom>
          <a:noFill/>
        </p:spPr>
        <p:txBody>
          <a:bodyPr wrap="square" rtlCol="0">
            <a:spAutoFit/>
          </a:bodyPr>
          <a:lstStyle/>
          <a:p>
            <a:pPr algn="ctr">
              <a:lnSpc>
                <a:spcPct val="150000"/>
              </a:lnSpc>
              <a:spcAft>
                <a:spcPts val="500"/>
              </a:spcAft>
            </a:pPr>
            <a:r>
              <a:rPr lang="en-US" altLang="zh-CN" sz="32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sym typeface="+mn-ea"/>
              </a:rPr>
              <a:t>Nander</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3200" b="1" dirty="0">
                <a:solidFill>
                  <a:srgbClr val="34705E"/>
                </a:solidFill>
                <a:latin typeface="方正舒体" panose="02010601030101010101" pitchFamily="2" charset="-122"/>
                <a:ea typeface="方正舒体" panose="02010601030101010101" pitchFamily="2" charset="-122"/>
                <a:cs typeface="微软雅黑" panose="020B0503020204020204" charset="-122"/>
                <a:sym typeface="+mn-ea"/>
              </a:rPr>
              <a:t>起 </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sym typeface="+mn-ea"/>
              </a:rPr>
              <a:t>源</a:t>
            </a:r>
            <a:endParaRPr lang="zh-CN" altLang="en-US" sz="32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a:p>
            <a:pPr marL="285750" indent="-285750">
              <a:buFont typeface="Arial" panose="020B0604020202020204" pitchFamily="34" charset="0"/>
              <a:buChar char="•"/>
            </a:pP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大鸟于</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2010</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年进入</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IT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行业起就开始构思一套标准的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JAVA</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组件库并于</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2015</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年完成，彼时</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组件库已经在业界建立起口碑。大鸟发现相比</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，自己的组件库除了</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桌面</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客户端特效组件比</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丰富外，其他组件都薄弱了一些，于是转换思路，决定在</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与其他通用组件库基础之上再创建一套</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JAVA</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构件库，并取名为</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，向开源精神致敬。</a:t>
            </a:r>
            <a:endPar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p:txBody>
      </p:sp>
      <p:pic>
        <p:nvPicPr>
          <p:cNvPr id="23" name="图片 22"/>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flipH="1">
            <a:off x="246380" y="3717421"/>
            <a:ext cx="3169285" cy="2945130"/>
          </a:xfrm>
          <a:prstGeom prst="rect">
            <a:avLst/>
          </a:prstGeom>
        </p:spPr>
      </p:pic>
      <p:pic>
        <p:nvPicPr>
          <p:cNvPr id="7173" name="图片 20"/>
          <p:cNvPicPr>
            <a:picLocks noChangeAspect="1"/>
          </p:cNvPicPr>
          <p:nvPr/>
        </p:nvPicPr>
        <p:blipFill>
          <a:blip r:embed="rId7" cstate="print"/>
          <a:stretch>
            <a:fillRect/>
          </a:stretch>
        </p:blipFill>
        <p:spPr>
          <a:xfrm>
            <a:off x="10687797" y="82431"/>
            <a:ext cx="1363980" cy="1242695"/>
          </a:xfrm>
          <a:prstGeom prst="rect">
            <a:avLst/>
          </a:prstGeom>
          <a:noFill/>
          <a:ln w="9525">
            <a:noFill/>
          </a:ln>
        </p:spPr>
      </p:pic>
      <p:sp>
        <p:nvSpPr>
          <p:cNvPr id="8" name="矩形 7"/>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介绍</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p:transition spd="slow">
    <p:random/>
  </p:transition>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45c407e3387dca278e382816eec1a0d2"/>
          <p:cNvPicPr>
            <a:picLocks noChangeAspect="1"/>
          </p:cNvPicPr>
          <p:nvPr/>
        </p:nvPicPr>
        <p:blipFill>
          <a:blip r:embed="rId3" cstate="print"/>
          <a:stretch>
            <a:fillRect/>
          </a:stretch>
        </p:blipFill>
        <p:spPr>
          <a:xfrm>
            <a:off x="0" y="2477770"/>
            <a:ext cx="12192000" cy="4380230"/>
          </a:xfrm>
          <a:prstGeom prst="rect">
            <a:avLst/>
          </a:prstGeom>
        </p:spPr>
      </p:pic>
      <p:sp>
        <p:nvSpPr>
          <p:cNvPr id="6" name="六边形 8"/>
          <p:cNvSpPr>
            <a:spLocks noChangeArrowheads="1"/>
          </p:cNvSpPr>
          <p:nvPr/>
        </p:nvSpPr>
        <p:spPr bwMode="auto">
          <a:xfrm rot="5400000">
            <a:off x="905667" y="2191199"/>
            <a:ext cx="3232150" cy="2203450"/>
          </a:xfrm>
          <a:prstGeom prst="hexagon">
            <a:avLst>
              <a:gd name="adj" fmla="val 25018"/>
              <a:gd name="vf" fmla="val 115470"/>
            </a:avLst>
          </a:prstGeom>
          <a:noFill/>
          <a:ln w="19050">
            <a:solidFill>
              <a:schemeClr val="tx1">
                <a:lumMod val="95000"/>
                <a:lumOff val="5000"/>
              </a:schemeClr>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b="1">
              <a:solidFill>
                <a:srgbClr val="EF8570"/>
              </a:solidFill>
              <a:latin typeface="文鼎PL细上海宋Uni" panose="02000509000000000000" charset="-122"/>
              <a:ea typeface="文鼎PL细上海宋Uni" panose="02000509000000000000" charset="-122"/>
              <a:sym typeface="宋体" panose="02010600030101010101" pitchFamily="2" charset="-122"/>
            </a:endParaRPr>
          </a:p>
        </p:txBody>
      </p:sp>
      <p:sp>
        <p:nvSpPr>
          <p:cNvPr id="7" name="六边形 10"/>
          <p:cNvSpPr>
            <a:spLocks noChangeArrowheads="1"/>
          </p:cNvSpPr>
          <p:nvPr/>
        </p:nvSpPr>
        <p:spPr bwMode="auto">
          <a:xfrm rot="5400000">
            <a:off x="4495799" y="2190405"/>
            <a:ext cx="3232150" cy="2205037"/>
          </a:xfrm>
          <a:prstGeom prst="hexagon">
            <a:avLst>
              <a:gd name="adj" fmla="val 25000"/>
              <a:gd name="vf" fmla="val 115470"/>
            </a:avLst>
          </a:prstGeom>
          <a:noFill/>
          <a:ln w="19050">
            <a:solidFill>
              <a:schemeClr val="tx1">
                <a:lumMod val="85000"/>
                <a:lumOff val="15000"/>
              </a:schemeClr>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b="1">
              <a:solidFill>
                <a:srgbClr val="EF8570"/>
              </a:solidFill>
              <a:latin typeface="文鼎PL细上海宋Uni" panose="02000509000000000000" charset="-122"/>
              <a:ea typeface="文鼎PL细上海宋Uni" panose="02000509000000000000" charset="-122"/>
              <a:sym typeface="宋体" panose="02010600030101010101" pitchFamily="2" charset="-122"/>
            </a:endParaRPr>
          </a:p>
        </p:txBody>
      </p:sp>
      <p:sp>
        <p:nvSpPr>
          <p:cNvPr id="8" name="六边形 12"/>
          <p:cNvSpPr>
            <a:spLocks noChangeArrowheads="1"/>
          </p:cNvSpPr>
          <p:nvPr/>
        </p:nvSpPr>
        <p:spPr bwMode="auto">
          <a:xfrm rot="5400000">
            <a:off x="8180862" y="2191199"/>
            <a:ext cx="3232150" cy="2203450"/>
          </a:xfrm>
          <a:prstGeom prst="hexagon">
            <a:avLst>
              <a:gd name="adj" fmla="val 25018"/>
              <a:gd name="vf" fmla="val 115470"/>
            </a:avLst>
          </a:prstGeom>
          <a:noFill/>
          <a:ln w="19050">
            <a:solidFill>
              <a:schemeClr val="tx1">
                <a:lumMod val="95000"/>
                <a:lumOff val="5000"/>
              </a:schemeClr>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b="1">
              <a:solidFill>
                <a:srgbClr val="EF8570"/>
              </a:solidFill>
              <a:latin typeface="文鼎PL细上海宋Uni" panose="02000509000000000000" charset="-122"/>
              <a:ea typeface="文鼎PL细上海宋Uni" panose="02000509000000000000" charset="-122"/>
              <a:sym typeface="宋体" panose="02010600030101010101" pitchFamily="2" charset="-122"/>
            </a:endParaRPr>
          </a:p>
        </p:txBody>
      </p:sp>
      <p:pic>
        <p:nvPicPr>
          <p:cNvPr id="21" name="图片 20"/>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9161174" y="2182118"/>
            <a:ext cx="1441075" cy="1612631"/>
          </a:xfrm>
          <a:prstGeom prst="rect">
            <a:avLst/>
          </a:prstGeom>
        </p:spPr>
      </p:pic>
      <p:pic>
        <p:nvPicPr>
          <p:cNvPr id="22" name="图片 21"/>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1454585" y="2063447"/>
            <a:ext cx="1921113" cy="1785034"/>
          </a:xfrm>
          <a:prstGeom prst="rect">
            <a:avLst/>
          </a:prstGeom>
        </p:spPr>
      </p:pic>
      <p:pic>
        <p:nvPicPr>
          <p:cNvPr id="23" name="图片 22"/>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5128961" y="2092521"/>
            <a:ext cx="1926989" cy="1825081"/>
          </a:xfrm>
          <a:prstGeom prst="rect">
            <a:avLst/>
          </a:prstGeom>
        </p:spPr>
      </p:pic>
      <p:sp>
        <p:nvSpPr>
          <p:cNvPr id="13" name="矩形 12"/>
          <p:cNvSpPr/>
          <p:nvPr/>
        </p:nvSpPr>
        <p:spPr>
          <a:xfrm>
            <a:off x="1902730" y="970373"/>
            <a:ext cx="1261885" cy="523220"/>
          </a:xfrm>
          <a:prstGeom prst="rect">
            <a:avLst/>
          </a:prstGeom>
          <a:noFill/>
        </p:spPr>
        <p:txBody>
          <a:bodyPr wrap="none" lIns="91440" tIns="45720" rIns="91440" bIns="45720">
            <a:spAutoFit/>
            <a:scene3d>
              <a:camera prst="orthographicFront"/>
              <a:lightRig rig="threePt" dir="t"/>
            </a:scene3d>
          </a:bodyPr>
          <a:lstStyle/>
          <a:p>
            <a:pPr algn="ctr"/>
            <a:r>
              <a:rPr lang="zh-CN" altLang="en-US" sz="2800" b="1" dirty="0" smtClean="0">
                <a:solidFill>
                  <a:srgbClr val="4E7999"/>
                </a:solidFill>
                <a:effectLst/>
                <a:latin typeface="方正舒体" panose="02010601030101010101" pitchFamily="2" charset="-122"/>
                <a:ea typeface="方正舒体" panose="02010601030101010101" pitchFamily="2" charset="-122"/>
              </a:rPr>
              <a:t>工具包</a:t>
            </a:r>
            <a:endParaRPr lang="zh-CN" altLang="en-US" sz="2800" b="1" dirty="0">
              <a:solidFill>
                <a:srgbClr val="4E7999"/>
              </a:solidFill>
              <a:effectLst/>
              <a:latin typeface="方正舒体" panose="02010601030101010101" pitchFamily="2" charset="-122"/>
              <a:ea typeface="方正舒体" panose="02010601030101010101" pitchFamily="2" charset="-122"/>
            </a:endParaRPr>
          </a:p>
        </p:txBody>
      </p:sp>
      <p:sp>
        <p:nvSpPr>
          <p:cNvPr id="14" name="矩形 13"/>
          <p:cNvSpPr/>
          <p:nvPr/>
        </p:nvSpPr>
        <p:spPr>
          <a:xfrm>
            <a:off x="5477277" y="970373"/>
            <a:ext cx="1261885" cy="523220"/>
          </a:xfrm>
          <a:prstGeom prst="rect">
            <a:avLst/>
          </a:prstGeom>
          <a:noFill/>
        </p:spPr>
        <p:txBody>
          <a:bodyPr wrap="none" lIns="91440" tIns="45720" rIns="91440" bIns="45720">
            <a:spAutoFit/>
            <a:scene3d>
              <a:camera prst="orthographicFront"/>
              <a:lightRig rig="threePt" dir="t"/>
            </a:scene3d>
          </a:bodyPr>
          <a:lstStyle/>
          <a:p>
            <a:pPr algn="ctr"/>
            <a:r>
              <a:rPr lang="zh-CN" altLang="en-US" sz="2800" b="1" dirty="0" smtClean="0">
                <a:ln w="11430"/>
                <a:solidFill>
                  <a:srgbClr val="4E7999"/>
                </a:solidFill>
                <a:effectLst/>
                <a:latin typeface="方正舒体" panose="02010601030101010101" pitchFamily="2" charset="-122"/>
                <a:ea typeface="方正舒体" panose="02010601030101010101" pitchFamily="2" charset="-122"/>
                <a:sym typeface="+mn-ea"/>
              </a:rPr>
              <a:t>组件包</a:t>
            </a:r>
            <a:endParaRPr lang="zh-CN" altLang="en-US" sz="2800" b="1" dirty="0">
              <a:ln w="11430"/>
              <a:solidFill>
                <a:srgbClr val="4E7999"/>
              </a:solidFill>
              <a:effectLst/>
              <a:latin typeface="方正舒体" panose="02010601030101010101" pitchFamily="2" charset="-122"/>
              <a:ea typeface="方正舒体" panose="02010601030101010101" pitchFamily="2" charset="-122"/>
              <a:sym typeface="+mn-ea"/>
            </a:endParaRPr>
          </a:p>
        </p:txBody>
      </p:sp>
      <p:sp>
        <p:nvSpPr>
          <p:cNvPr id="17" name="矩形 16"/>
          <p:cNvSpPr/>
          <p:nvPr/>
        </p:nvSpPr>
        <p:spPr>
          <a:xfrm>
            <a:off x="9165116" y="978891"/>
            <a:ext cx="1261885" cy="523220"/>
          </a:xfrm>
          <a:prstGeom prst="rect">
            <a:avLst/>
          </a:prstGeom>
          <a:noFill/>
        </p:spPr>
        <p:txBody>
          <a:bodyPr wrap="none" lIns="91440" tIns="45720" rIns="91440" bIns="45720">
            <a:spAutoFit/>
            <a:scene3d>
              <a:camera prst="orthographicFront"/>
              <a:lightRig rig="threePt" dir="t"/>
            </a:scene3d>
          </a:bodyPr>
          <a:lstStyle/>
          <a:p>
            <a:pPr algn="ctr"/>
            <a:r>
              <a:rPr lang="zh-CN" altLang="en-US" sz="2800" b="1" dirty="0" smtClean="0">
                <a:solidFill>
                  <a:srgbClr val="4E7999"/>
                </a:solidFill>
                <a:effectLst/>
                <a:latin typeface="方正舒体" panose="02010601030101010101" pitchFamily="2" charset="-122"/>
                <a:ea typeface="方正舒体" panose="02010601030101010101" pitchFamily="2" charset="-122"/>
                <a:sym typeface="+mn-ea"/>
              </a:rPr>
              <a:t>构件包</a:t>
            </a:r>
            <a:endParaRPr lang="zh-CN" altLang="en-US" sz="2800" b="1" dirty="0">
              <a:solidFill>
                <a:srgbClr val="4E7999"/>
              </a:solidFill>
              <a:effectLst/>
              <a:latin typeface="方正舒体" panose="02010601030101010101" pitchFamily="2" charset="-122"/>
              <a:ea typeface="方正舒体" panose="02010601030101010101" pitchFamily="2" charset="-122"/>
              <a:sym typeface="+mn-ea"/>
            </a:endParaRPr>
          </a:p>
        </p:txBody>
      </p:sp>
      <p:sp>
        <p:nvSpPr>
          <p:cNvPr id="15" name="矩形 14"/>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介绍</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500"/>
                                        <p:tgtEl>
                                          <p:spTgt spid="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par>
                                <p:cTn id="14" presetID="5" presetClass="entr" presetSubtype="1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checkerboard(across)">
                                      <p:cBhvr>
                                        <p:cTn id="16" dur="500"/>
                                        <p:tgtEl>
                                          <p:spTgt spid="21"/>
                                        </p:tgtEl>
                                      </p:cBhvr>
                                    </p:animEffect>
                                  </p:childTnLst>
                                </p:cTn>
                              </p:par>
                              <p:par>
                                <p:cTn id="17" presetID="5" presetClass="entr" presetSubtype="1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checkerboard(across)">
                                      <p:cBhvr>
                                        <p:cTn id="19" dur="500"/>
                                        <p:tgtEl>
                                          <p:spTgt spid="22"/>
                                        </p:tgtEl>
                                      </p:cBhvr>
                                    </p:animEffect>
                                  </p:childTnLst>
                                </p:cTn>
                              </p:par>
                              <p:par>
                                <p:cTn id="20" presetID="5" presetClass="entr" presetSubtype="1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checkerboard(across)">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45c407e3387dca278e382816eec1a0d2"/>
          <p:cNvPicPr>
            <a:picLocks noChangeAspect="1"/>
          </p:cNvPicPr>
          <p:nvPr/>
        </p:nvPicPr>
        <p:blipFill>
          <a:blip r:embed="rId3" cstate="print"/>
          <a:stretch>
            <a:fillRect/>
          </a:stretch>
        </p:blipFill>
        <p:spPr>
          <a:xfrm>
            <a:off x="0" y="2477770"/>
            <a:ext cx="12192000" cy="4380230"/>
          </a:xfrm>
          <a:prstGeom prst="rect">
            <a:avLst/>
          </a:prstGeom>
        </p:spPr>
      </p:pic>
      <p:pic>
        <p:nvPicPr>
          <p:cNvPr id="4" name="图片 3" descr="5b6ce715ee482"/>
          <p:cNvPicPr>
            <a:picLocks noChangeAspect="1"/>
          </p:cNvPicPr>
          <p:nvPr/>
        </p:nvPicPr>
        <p:blipFill>
          <a:blip r:embed="rId4" cstate="print"/>
          <a:stretch>
            <a:fillRect/>
          </a:stretch>
        </p:blipFill>
        <p:spPr>
          <a:xfrm>
            <a:off x="4102100" y="3671570"/>
            <a:ext cx="4408805" cy="3109595"/>
          </a:xfrm>
          <a:prstGeom prst="rect">
            <a:avLst/>
          </a:prstGeom>
        </p:spPr>
      </p:pic>
      <p:pic>
        <p:nvPicPr>
          <p:cNvPr id="5" name="图片 4" descr="6e3e461d6fe4261ffac34bab182ac1ed"/>
          <p:cNvPicPr>
            <a:picLocks noChangeAspect="1"/>
          </p:cNvPicPr>
          <p:nvPr/>
        </p:nvPicPr>
        <p:blipFill>
          <a:blip r:embed="rId5" cstate="print"/>
          <a:stretch>
            <a:fillRect/>
          </a:stretch>
        </p:blipFill>
        <p:spPr>
          <a:xfrm>
            <a:off x="1811020" y="273050"/>
            <a:ext cx="8569960" cy="4753610"/>
          </a:xfrm>
          <a:prstGeom prst="rect">
            <a:avLst/>
          </a:prstGeom>
        </p:spPr>
      </p:pic>
      <p:sp>
        <p:nvSpPr>
          <p:cNvPr id="17" name="文本框 16"/>
          <p:cNvSpPr txBox="1"/>
          <p:nvPr/>
        </p:nvSpPr>
        <p:spPr>
          <a:xfrm>
            <a:off x="2832615" y="2200241"/>
            <a:ext cx="7159524" cy="1200329"/>
          </a:xfrm>
          <a:prstGeom prst="rect">
            <a:avLst/>
          </a:prstGeom>
          <a:noFill/>
        </p:spPr>
        <p:txBody>
          <a:bodyPr wrap="square" rtlCol="0">
            <a:spAutoFit/>
          </a:bodyPr>
          <a:lstStyle/>
          <a:p>
            <a:r>
              <a:rPr lang="en-US" altLang="zh-CN" sz="7200" dirty="0" err="1">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72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72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九</a:t>
            </a:r>
            <a:r>
              <a:rPr lang="zh-CN" altLang="en-US" sz="72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大成员</a:t>
            </a:r>
            <a:endParaRPr lang="en-US" altLang="zh-CN" sz="72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sp>
        <p:nvSpPr>
          <p:cNvPr id="6" name="文本框 5"/>
          <p:cNvSpPr txBox="1"/>
          <p:nvPr/>
        </p:nvSpPr>
        <p:spPr>
          <a:xfrm>
            <a:off x="5930900" y="909320"/>
            <a:ext cx="862737" cy="1569660"/>
          </a:xfrm>
          <a:prstGeom prst="rect">
            <a:avLst/>
          </a:prstGeom>
          <a:noFill/>
        </p:spPr>
        <p:txBody>
          <a:bodyPr wrap="none" rtlCol="0">
            <a:spAutoFit/>
          </a:bodyPr>
          <a:lstStyle/>
          <a:p>
            <a:r>
              <a:rPr lang="en-US" altLang="zh-CN" sz="9600" b="1" dirty="0">
                <a:solidFill>
                  <a:srgbClr val="476682"/>
                </a:solidFill>
                <a:latin typeface="方正舒体" panose="02010601030101010101" pitchFamily="2" charset="-122"/>
                <a:ea typeface="方正舒体" panose="02010601030101010101" pitchFamily="2" charset="-122"/>
              </a:rPr>
              <a:t>2</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ccb8bc6dbe83c6ae811819d70909b6f"/>
          <p:cNvPicPr>
            <a:picLocks noChangeAspect="1"/>
          </p:cNvPicPr>
          <p:nvPr/>
        </p:nvPicPr>
        <p:blipFill>
          <a:blip r:embed="rId3" cstate="print"/>
          <a:stretch>
            <a:fillRect/>
          </a:stretch>
        </p:blipFill>
        <p:spPr>
          <a:xfrm>
            <a:off x="0" y="3303885"/>
            <a:ext cx="12192000" cy="3552190"/>
          </a:xfrm>
          <a:prstGeom prst="rect">
            <a:avLst/>
          </a:prstGeom>
        </p:spPr>
      </p:pic>
      <p:sp>
        <p:nvSpPr>
          <p:cNvPr id="2" name="矩形 1"/>
          <p:cNvSpPr/>
          <p:nvPr/>
        </p:nvSpPr>
        <p:spPr>
          <a:xfrm>
            <a:off x="3320715" y="155816"/>
            <a:ext cx="8585735" cy="4182110"/>
          </a:xfrm>
          <a:prstGeom prst="rect">
            <a:avLst/>
          </a:prstGeom>
          <a:solidFill>
            <a:srgbClr val="EDF8F1"/>
          </a:solidFill>
          <a:ln>
            <a:noFill/>
          </a:ln>
        </p:spPr>
        <p:txBody>
          <a:bodyPr wrap="square">
            <a:spAutoFit/>
          </a:bodyPr>
          <a:lstStyle/>
          <a:p>
            <a:r>
              <a:rPr lang="en-US" altLang="zh-CN" sz="32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构件库包含</a:t>
            </a:r>
            <a:r>
              <a:rPr lang="en-US" altLang="zh-CN"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9</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个类别，</a:t>
            </a:r>
            <a:r>
              <a:rPr lang="zh-CN" altLang="en-US" sz="3200" b="1" dirty="0">
                <a:solidFill>
                  <a:srgbClr val="34705E"/>
                </a:solidFill>
                <a:latin typeface="方正舒体" panose="02010601030101010101" pitchFamily="2" charset="-122"/>
                <a:ea typeface="方正舒体" panose="02010601030101010101" pitchFamily="2" charset="-122"/>
                <a:cs typeface="微软雅黑" panose="020B0503020204020204" charset="-122"/>
              </a:rPr>
              <a:t>分别是：</a:t>
            </a:r>
          </a:p>
          <a:p>
            <a:endParaRPr lang="zh-CN" altLang="en-US" dirty="0">
              <a:solidFill>
                <a:srgbClr val="476682"/>
              </a:solidFill>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mj-lt"/>
              <a:buAutoNum type="arabicPeriod"/>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framework-core</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CORE</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基础工具包</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，包含：字符串</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处理、数据格式处理、排序器、文件处理、数值处理、时间处理、编码处理、图像处理、分页器、永动机任务</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执行器。</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framework-common</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COMMON</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通用组件库，包含：加解密组件</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GIS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组件、禁用</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词检测组件、日志组件、脱敏组件</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包含：</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Elasticsearch</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rPr>
              <a:t>Kafka</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Mybatisplus</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Mongodb</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Rabbitmq</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Redis</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Rocketmq</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rPr>
              <a:t>Zookeeper</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OSS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framework-cache</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CACHE</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：缓存构件，包含：分布式缓存、本地缓存。</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a:t>
            </a:r>
            <a:r>
              <a:rPr lang="en-US" altLang="zh-CN" dirty="0" err="1">
                <a:solidFill>
                  <a:srgbClr val="FF0000"/>
                </a:solidFill>
                <a:latin typeface="方正舒体" panose="02010601030101010101" pitchFamily="2" charset="-122"/>
                <a:ea typeface="方正舒体" panose="02010601030101010101" pitchFamily="2" charset="-122"/>
                <a:cs typeface="微软雅黑" panose="020B0503020204020204" charset="-122"/>
              </a:rPr>
              <a:t>distributedlock</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DL</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分布式锁构件</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，包含：</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zk</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锁、</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redis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锁</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a:t>
            </a:r>
          </a:p>
        </p:txBody>
      </p:sp>
      <p:pic>
        <p:nvPicPr>
          <p:cNvPr id="10" name="图片 9" descr="7025f93bab81e29a45dfc8ebfbf481b9"/>
          <p:cNvPicPr>
            <a:picLocks noChangeAspect="1"/>
          </p:cNvPicPr>
          <p:nvPr/>
        </p:nvPicPr>
        <p:blipFill>
          <a:blip r:embed="rId4" cstate="print"/>
          <a:stretch>
            <a:fillRect/>
          </a:stretch>
        </p:blipFill>
        <p:spPr>
          <a:xfrm flipH="1">
            <a:off x="12766" y="8758"/>
            <a:ext cx="3692964" cy="676402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046211 -0.172260 C -0.037687 -0.235686 -0.013753 -0.462002 -0.002322 -0.459379 C 0.009109 -0.456754 0.016617 -0.259043 0.010916 -0.159313 C 0.005214 -0.059583 -0.037715 -0.057046 -0.030885 0.039273 C -0.024055 0.135591 0.029007 0.269528 0.045039 0.322105 " pathEditMode="relative" rAng="0" ptsTypes="">
                                      <p:cBhvr>
                                        <p:cTn id="6" dur="2000" fill="hold"/>
                                        <p:tgtEl>
                                          <p:spTgt spid="10"/>
                                        </p:tgtEl>
                                        <p:attrNameLst>
                                          <p:attrName>ppt_x</p:attrName>
                                          <p:attrName>ppt_y</p:attrName>
                                        </p:attrNameLst>
                                      </p:cBhvr>
                                      <p:rCtr x="4600" y="10400"/>
                                    </p:animMotion>
                                  </p:childTnLst>
                                </p:cTn>
                              </p:par>
                              <p:par>
                                <p:cTn id="7" presetID="20"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wedge">
                                      <p:cBhvr>
                                        <p:cTn id="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206750" y="15240"/>
            <a:ext cx="8737600" cy="4846320"/>
          </a:xfrm>
          <a:prstGeom prst="rect">
            <a:avLst/>
          </a:prstGeom>
          <a:solidFill>
            <a:srgbClr val="EDF8F1"/>
          </a:solidFill>
          <a:ln>
            <a:noFill/>
          </a:ln>
        </p:spPr>
        <p:txBody>
          <a:bodyPr wrap="square">
            <a:spAutoFit/>
          </a:bodyPr>
          <a:lstStyle/>
          <a:p>
            <a:r>
              <a:rPr lang="en-US" altLang="zh-CN" sz="32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构件库包含</a:t>
            </a:r>
            <a:r>
              <a:rPr lang="en-US" altLang="zh-CN"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9</a:t>
            </a:r>
            <a:r>
              <a:rPr lang="zh-CN" altLang="en-US" sz="32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个类别，</a:t>
            </a:r>
            <a:r>
              <a:rPr lang="zh-CN" altLang="en-US" sz="3200" b="1" dirty="0">
                <a:solidFill>
                  <a:srgbClr val="34705E"/>
                </a:solidFill>
                <a:latin typeface="方正舒体" panose="02010601030101010101" pitchFamily="2" charset="-122"/>
                <a:ea typeface="方正舒体" panose="02010601030101010101" pitchFamily="2" charset="-122"/>
                <a:cs typeface="微软雅黑" panose="020B0503020204020204" charset="-122"/>
              </a:rPr>
              <a:t>分别是：</a:t>
            </a:r>
          </a:p>
          <a:p>
            <a:endParaRPr lang="zh-CN" altLang="en-US" dirty="0">
              <a:solidFill>
                <a:srgbClr val="476682"/>
              </a:solidFill>
              <a:latin typeface="微软雅黑" panose="020B0503020204020204" charset="-122"/>
              <a:ea typeface="微软雅黑" panose="020B0503020204020204" charset="-122"/>
              <a:cs typeface="微软雅黑" panose="020B0503020204020204" charset="-122"/>
            </a:endParaRPr>
          </a:p>
          <a:p>
            <a:pPr marL="342900" indent="-342900">
              <a:lnSpc>
                <a:spcPct val="120000"/>
              </a:lnSpc>
              <a:buFont typeface="+mj-lt"/>
              <a:buAutoNum type="arabicPeriod" startAt="6"/>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framework-document</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DOC</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文档构件，包含：</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EXCEL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制作、</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PDF</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制作</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WORD</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制作、</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HTML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制作。</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startAt="6"/>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framework-message</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MESSAGE</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：消息构件，包含：短信、邮件、钉钉、企业微信。</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startAt="6"/>
            </a:pP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framework-id</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a:solidFill>
                  <a:srgbClr val="FF0000"/>
                </a:solidFill>
                <a:latin typeface="方正舒体" panose="02010601030101010101" pitchFamily="2" charset="-122"/>
                <a:ea typeface="方正舒体" panose="02010601030101010101" pitchFamily="2" charset="-122"/>
                <a:cs typeface="微软雅黑" panose="020B0503020204020204" charset="-122"/>
              </a:rPr>
              <a:t>ID</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ID</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包含：</a:t>
            </a:r>
            <a:r>
              <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rPr>
              <a:t>twitter-snowflake</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rPr>
              <a:t>leaf-segment</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dirty="0" err="1">
                <a:solidFill>
                  <a:srgbClr val="476682"/>
                </a:solidFill>
                <a:latin typeface="方正舒体" panose="02010601030101010101" pitchFamily="2" charset="-122"/>
                <a:ea typeface="方正舒体" panose="02010601030101010101" pitchFamily="2" charset="-122"/>
                <a:cs typeface="微软雅黑" panose="020B0503020204020204" charset="-122"/>
              </a:rPr>
              <a:t>baidu-uid</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342900" indent="-342900">
              <a:lnSpc>
                <a:spcPct val="120000"/>
              </a:lnSpc>
              <a:buFont typeface="+mj-lt"/>
              <a:buAutoNum type="arabicPeriod" startAt="6"/>
            </a:pP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framework-server</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SERVER</a:t>
            </a: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：服务框架构件，包含：提供通用</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web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接口的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WEB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框架、提供接口安全防护的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WEB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框架，提供</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JWT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认证的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WEB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框架、提供频控的WEB框架、提供验证码的WEB框架、提供外部接口调用的WEB框架、提供动态作业调度的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WEB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框架、提供</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WS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服务框架。</a:t>
            </a:r>
            <a:endParaRPr lang="en-US" altLang="zh-CN"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20000"/>
              </a:lnSpc>
            </a:pPr>
            <a:r>
              <a:rPr lang="zh-CN" altLang="en-US"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备注：</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framework-dependencies</a:t>
            </a:r>
            <a:r>
              <a:rPr lang="zh-CN" altLang="en-US" dirty="0">
                <a:solidFill>
                  <a:srgbClr val="FF0000"/>
                </a:solidFill>
                <a:latin typeface="方正舒体" panose="02010601030101010101" pitchFamily="2" charset="-122"/>
                <a:ea typeface="方正舒体" panose="02010601030101010101" pitchFamily="2" charset="-122"/>
                <a:cs typeface="微软雅黑" panose="020B0503020204020204" charset="-122"/>
              </a:rPr>
              <a:t>和</a:t>
            </a:r>
            <a:r>
              <a:rPr lang="en-US" altLang="zh-CN"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framework-parent</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p>
          <a:p>
            <a:pPr>
              <a:lnSpc>
                <a:spcPct val="120000"/>
              </a:lnSpc>
            </a:pP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            </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统一定义</a:t>
            </a:r>
            <a:r>
              <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rPr>
              <a:t>上述构件依赖版本。</a:t>
            </a:r>
          </a:p>
        </p:txBody>
      </p:sp>
      <p:pic>
        <p:nvPicPr>
          <p:cNvPr id="9" name="图片 8" descr="6ccb8bc6dbe83c6ae811819d70909b6f"/>
          <p:cNvPicPr>
            <a:picLocks noChangeAspect="1"/>
          </p:cNvPicPr>
          <p:nvPr/>
        </p:nvPicPr>
        <p:blipFill>
          <a:blip r:embed="rId3" cstate="print"/>
          <a:stretch>
            <a:fillRect/>
          </a:stretch>
        </p:blipFill>
        <p:spPr>
          <a:xfrm>
            <a:off x="10795" y="3303885"/>
            <a:ext cx="12192000" cy="3552190"/>
          </a:xfrm>
          <a:prstGeom prst="rect">
            <a:avLst/>
          </a:prstGeom>
        </p:spPr>
      </p:pic>
      <p:pic>
        <p:nvPicPr>
          <p:cNvPr id="6" name="图片 5" descr="7025f93bab81e29a45dfc8ebfbf481b9"/>
          <p:cNvPicPr>
            <a:picLocks noChangeAspect="1"/>
          </p:cNvPicPr>
          <p:nvPr/>
        </p:nvPicPr>
        <p:blipFill>
          <a:blip r:embed="rId4" cstate="print"/>
          <a:stretch>
            <a:fillRect/>
          </a:stretch>
        </p:blipFill>
        <p:spPr>
          <a:xfrm flipH="1">
            <a:off x="12766" y="8758"/>
            <a:ext cx="3692964" cy="676402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afterEffect">
                                  <p:stCondLst>
                                    <p:cond delay="0"/>
                                  </p:stCondLst>
                                  <p:childTnLst>
                                    <p:animMotion origin="layout" path="M -0.046211 -0.172260 C -0.037687 -0.235686 -0.013753 -0.462002 -0.002322 -0.459379 C 0.009109 -0.456754 0.016617 -0.259043 0.010916 -0.159313 C 0.005214 -0.059583 -0.037715 -0.057046 -0.030885 0.039273 C -0.024055 0.135591 0.029007 0.269528 0.045039 0.322105 " pathEditMode="relative" rAng="0" ptsTypes="">
                                      <p:cBhvr>
                                        <p:cTn id="6" dur="2000" fill="hold"/>
                                        <p:tgtEl>
                                          <p:spTgt spid="6"/>
                                        </p:tgtEl>
                                        <p:attrNameLst>
                                          <p:attrName>ppt_x</p:attrName>
                                          <p:attrName>ppt_y</p:attrName>
                                        </p:attrNameLst>
                                      </p:cBhvr>
                                      <p:rCtr x="4600" y="10400"/>
                                    </p:animMotion>
                                  </p:childTnLst>
                                </p:cTn>
                              </p:par>
                              <p:par>
                                <p:cTn id="7" presetID="2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edge">
                                      <p:cBhvr>
                                        <p:cTn id="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ccb8bc6dbe83c6ae811819d70909b6f"/>
          <p:cNvPicPr>
            <a:picLocks noChangeAspect="1"/>
          </p:cNvPicPr>
          <p:nvPr/>
        </p:nvPicPr>
        <p:blipFill>
          <a:blip r:embed="rId3" cstate="print"/>
          <a:stretch>
            <a:fillRect/>
          </a:stretch>
        </p:blipFill>
        <p:spPr>
          <a:xfrm>
            <a:off x="-4480" y="3306083"/>
            <a:ext cx="12196480" cy="3552190"/>
          </a:xfrm>
          <a:prstGeom prst="rect">
            <a:avLst/>
          </a:prstGeom>
        </p:spPr>
      </p:pic>
      <p:pic>
        <p:nvPicPr>
          <p:cNvPr id="5" name="图片 4" descr="88478a0577c2707626c1d5747624df25"/>
          <p:cNvPicPr>
            <a:picLocks noChangeAspect="1"/>
          </p:cNvPicPr>
          <p:nvPr/>
        </p:nvPicPr>
        <p:blipFill>
          <a:blip r:embed="rId4" cstate="print"/>
          <a:stretch>
            <a:fillRect/>
          </a:stretch>
        </p:blipFill>
        <p:spPr>
          <a:xfrm>
            <a:off x="773430" y="1494790"/>
            <a:ext cx="4407535" cy="5291455"/>
          </a:xfrm>
          <a:prstGeom prst="rect">
            <a:avLst/>
          </a:prstGeom>
        </p:spPr>
      </p:pic>
      <p:sp>
        <p:nvSpPr>
          <p:cNvPr id="13" name="文本框 12"/>
          <p:cNvSpPr txBox="1"/>
          <p:nvPr/>
        </p:nvSpPr>
        <p:spPr>
          <a:xfrm>
            <a:off x="5838346" y="569852"/>
            <a:ext cx="5585460" cy="5078313"/>
          </a:xfrm>
          <a:prstGeom prst="rect">
            <a:avLst/>
          </a:prstGeom>
          <a:noFill/>
        </p:spPr>
        <p:txBody>
          <a:bodyPr wrap="square" rtlCol="0">
            <a:spAutoFit/>
          </a:bodyPr>
          <a:lstStyle/>
          <a:p>
            <a:pPr>
              <a:lnSpc>
                <a:spcPct val="150000"/>
              </a:lnSpc>
            </a:pPr>
            <a:r>
              <a:rPr lang="en-US" altLang="zh-CN" dirty="0">
                <a:solidFill>
                  <a:srgbClr val="476682"/>
                </a:solidFill>
                <a:latin typeface="微软雅黑" panose="020B0503020204020204" charset="-122"/>
                <a:ea typeface="微软雅黑" panose="020B0503020204020204" charset="-122"/>
                <a:cs typeface="微软雅黑" panose="020B0503020204020204" charset="-122"/>
                <a:sym typeface="+mn-ea"/>
              </a:rPr>
              <a:t>       </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组件库设计理念是提供小而全的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JAVA</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工具类库，尽量不依靠外部依赖。而本工具包设计理念则与其不同，本工具包追求统一整合外部一切可利用的</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JAVA</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工具类库，如</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Apache-Commons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Spring</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组件库等，并在整合过程中化解他们之间的依赖冲突与完善它们未提供的工具方法。此外，精选这些组件库提供的具备更高性能的相同工具方法，比如：对象拷贝方法，本工具包采用</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cglib</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作为优选实现，性能实验表明：</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cglib</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&gt; spring &gt; </a:t>
            </a:r>
            <a:r>
              <a:rPr lang="en-US" altLang="zh-CN"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hutool</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a:t>
            </a:r>
            <a:endPar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algn="l">
              <a:lnSpc>
                <a:spcPct val="150000"/>
              </a:lnSpc>
            </a:pPr>
            <a:endParaRPr lang="zh-CN" altLang="en-US" b="1" dirty="0">
              <a:solidFill>
                <a:srgbClr val="476682"/>
              </a:solidFill>
              <a:latin typeface="微软雅黑" panose="020B0503020204020204" charset="-122"/>
              <a:ea typeface="微软雅黑" panose="020B0503020204020204" charset="-122"/>
              <a:cs typeface="微软雅黑" panose="020B0503020204020204" charset="-122"/>
            </a:endParaRPr>
          </a:p>
          <a:p>
            <a:pPr algn="l">
              <a:lnSpc>
                <a:spcPct val="150000"/>
              </a:lnSpc>
            </a:pPr>
            <a:endParaRPr lang="zh-CN" altLang="en-US" b="1" dirty="0">
              <a:solidFill>
                <a:srgbClr val="476682"/>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5" cstate="print">
            <a:clrChange>
              <a:clrFrom>
                <a:srgbClr val="FEFEFE">
                  <a:alpha val="100000"/>
                </a:srgbClr>
              </a:clrFrom>
              <a:clrTo>
                <a:srgbClr val="FEFEFE">
                  <a:alpha val="100000"/>
                  <a:alpha val="0"/>
                </a:srgbClr>
              </a:clrTo>
            </a:clrChange>
          </a:blip>
          <a:stretch>
            <a:fillRect/>
          </a:stretch>
        </p:blipFill>
        <p:spPr>
          <a:xfrm>
            <a:off x="1900555" y="3538220"/>
            <a:ext cx="2967355" cy="2270125"/>
          </a:xfrm>
          <a:prstGeom prst="rect">
            <a:avLst/>
          </a:prstGeom>
        </p:spPr>
      </p:pic>
      <p:pic>
        <p:nvPicPr>
          <p:cNvPr id="12" name="图片 11" descr="1"/>
          <p:cNvPicPr>
            <a:picLocks noChangeAspect="1"/>
          </p:cNvPicPr>
          <p:nvPr/>
        </p:nvPicPr>
        <p:blipFill>
          <a:blip r:embed="rId6" cstate="print"/>
          <a:stretch>
            <a:fillRect/>
          </a:stretch>
        </p:blipFill>
        <p:spPr>
          <a:xfrm flipH="1">
            <a:off x="2821940" y="5417155"/>
            <a:ext cx="1449070" cy="1449070"/>
          </a:xfrm>
          <a:prstGeom prst="rect">
            <a:avLst/>
          </a:prstGeom>
        </p:spPr>
      </p:pic>
      <p:sp>
        <p:nvSpPr>
          <p:cNvPr id="4" name="矩形 3"/>
          <p:cNvSpPr/>
          <p:nvPr/>
        </p:nvSpPr>
        <p:spPr>
          <a:xfrm>
            <a:off x="422365" y="322631"/>
            <a:ext cx="4974439"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基础工具包</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framework-core</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CORE</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pic>
        <p:nvPicPr>
          <p:cNvPr id="11" name="图片 10" descr="1"/>
          <p:cNvPicPr>
            <a:picLocks noChangeAspect="1"/>
          </p:cNvPicPr>
          <p:nvPr/>
        </p:nvPicPr>
        <p:blipFill>
          <a:blip r:embed="rId7" cstate="print"/>
          <a:stretch>
            <a:fillRect/>
          </a:stretch>
        </p:blipFill>
        <p:spPr>
          <a:xfrm flipH="1">
            <a:off x="4025265" y="4359910"/>
            <a:ext cx="2515870" cy="251587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2000" fill="hold">
                                          <p:stCondLst>
                                            <p:cond delay="0"/>
                                          </p:stCondLst>
                                        </p:cTn>
                                        <p:tgtEl>
                                          <p:spTgt spid="3"/>
                                        </p:tgtEl>
                                        <p:attrNameLst>
                                          <p:attrName>style.visibility</p:attrName>
                                        </p:attrNameLst>
                                      </p:cBhvr>
                                      <p:to>
                                        <p:strVal val="visible"/>
                                      </p:to>
                                    </p:set>
                                    <p:animEffect transition="in" filter="wipe(left)">
                                      <p:cBhvr>
                                        <p:cTn id="11" dur="2000"/>
                                        <p:tgtEl>
                                          <p:spTgt spid="3"/>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35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8"/>
          <p:cNvSpPr txBox="1">
            <a:spLocks noChangeArrowheads="1"/>
          </p:cNvSpPr>
          <p:nvPr/>
        </p:nvSpPr>
        <p:spPr bwMode="auto">
          <a:xfrm>
            <a:off x="543911" y="845535"/>
            <a:ext cx="10645665" cy="2086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20000"/>
              </a:lnSpc>
              <a:spcBef>
                <a:spcPct val="0"/>
              </a:spcBef>
              <a:buNone/>
            </a:pP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相对于基础工具包以单个类方法的维度为开发者提供可重复利用的通用功能，通用组件库则以更高一层级的维度通过组合某类别通用功能为开发者提供可重复利用的组件。</a:t>
            </a:r>
            <a:endPar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20000"/>
              </a:lnSpc>
              <a:spcBef>
                <a:spcPct val="0"/>
              </a:spcBef>
              <a:buNone/>
            </a:pP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以对特定文本信息的脱敏方式为例：姓名、手机号、固定电话、身份证、银行卡号、密码、邮箱和地址需要按照某种标准方式执行脱密（前</a:t>
            </a:r>
            <a:r>
              <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3</a:t>
            </a: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后</a:t>
            </a:r>
            <a:r>
              <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3</a:t>
            </a: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脱敏、后</a:t>
            </a:r>
            <a:r>
              <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5</a:t>
            </a: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位脱敏、后</a:t>
            </a:r>
            <a:r>
              <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3</a:t>
            </a: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位脱敏、哈希脱敏和模糊显示脱敏），本组件库则提供了脱敏组件用于实现对应功能。</a:t>
            </a:r>
            <a:endParaRPr lang="en-US" altLang="zh-CN"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20000"/>
              </a:lnSpc>
              <a:spcBef>
                <a:spcPct val="0"/>
              </a:spcBef>
              <a:buNone/>
            </a:pPr>
            <a:r>
              <a:rPr lang="zh-CN" altLang="en-US" sz="18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目前，通用组件库共包含：加解密组件、禁用词检测组件、日志组件、脱敏组件。</a:t>
            </a:r>
            <a:endParaRPr lang="zh-CN" altLang="en-US" sz="1800" dirty="0">
              <a:solidFill>
                <a:srgbClr val="476682"/>
              </a:solidFill>
              <a:latin typeface="微软雅黑" panose="020B0503020204020204" charset="-122"/>
              <a:ea typeface="微软雅黑" panose="020B0503020204020204" charset="-122"/>
              <a:cs typeface="微软雅黑" panose="020B0503020204020204" charset="-122"/>
              <a:sym typeface="+mn-ea"/>
            </a:endParaRPr>
          </a:p>
        </p:txBody>
      </p:sp>
      <p:grpSp>
        <p:nvGrpSpPr>
          <p:cNvPr id="4" name="组合 3"/>
          <p:cNvGrpSpPr/>
          <p:nvPr/>
        </p:nvGrpSpPr>
        <p:grpSpPr>
          <a:xfrm>
            <a:off x="3261995" y="2692400"/>
            <a:ext cx="5668010" cy="3663315"/>
            <a:chOff x="155126" y="1552462"/>
            <a:chExt cx="6822219" cy="4409555"/>
          </a:xfrm>
        </p:grpSpPr>
        <p:pic>
          <p:nvPicPr>
            <p:cNvPr id="12" name="图片 11"/>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55126" y="1552462"/>
              <a:ext cx="6822219" cy="4409555"/>
            </a:xfrm>
            <a:prstGeom prst="rect">
              <a:avLst/>
            </a:prstGeom>
          </p:spPr>
        </p:pic>
        <p:sp>
          <p:nvSpPr>
            <p:cNvPr id="13" name="矩形: 圆角 4"/>
            <p:cNvSpPr/>
            <p:nvPr/>
          </p:nvSpPr>
          <p:spPr>
            <a:xfrm>
              <a:off x="1037068" y="2243159"/>
              <a:ext cx="4983480" cy="31699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p:nvPicPr>
        <p:blipFill>
          <a:blip r:embed="rId4" cstate="print"/>
          <a:stretch>
            <a:fillRect/>
          </a:stretch>
        </p:blipFill>
        <p:spPr>
          <a:xfrm>
            <a:off x="3994785" y="3290570"/>
            <a:ext cx="4178300" cy="2609215"/>
          </a:xfrm>
          <a:prstGeom prst="roundRect">
            <a:avLst/>
          </a:prstGeom>
        </p:spPr>
      </p:pic>
      <p:sp>
        <p:nvSpPr>
          <p:cNvPr id="9" name="矩形 8"/>
          <p:cNvSpPr/>
          <p:nvPr/>
        </p:nvSpPr>
        <p:spPr>
          <a:xfrm>
            <a:off x="422366" y="322631"/>
            <a:ext cx="6074687" cy="400110"/>
          </a:xfrm>
          <a:prstGeom prst="rect">
            <a:avLst/>
          </a:prstGeom>
        </p:spPr>
        <p:txBody>
          <a:bodyPr wrap="squar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通用组件库</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framework-common</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COMMON</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pic>
        <p:nvPicPr>
          <p:cNvPr id="20" name="图片 19" descr="45c407e3387dca278e382816eec1a0d2"/>
          <p:cNvPicPr>
            <a:picLocks noChangeAspect="1"/>
          </p:cNvPicPr>
          <p:nvPr/>
        </p:nvPicPr>
        <p:blipFill>
          <a:blip r:embed="rId5" cstate="print"/>
          <a:stretch>
            <a:fillRect/>
          </a:stretch>
        </p:blipFill>
        <p:spPr>
          <a:xfrm>
            <a:off x="0" y="3177278"/>
            <a:ext cx="12192000" cy="3679190"/>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6ccb8bc6dbe83c6ae811819d70909b6f"/>
          <p:cNvPicPr>
            <a:picLocks noChangeAspect="1"/>
          </p:cNvPicPr>
          <p:nvPr/>
        </p:nvPicPr>
        <p:blipFill>
          <a:blip r:embed="rId4" cstate="print"/>
          <a:srcRect t="29675"/>
          <a:stretch>
            <a:fillRect/>
          </a:stretch>
        </p:blipFill>
        <p:spPr>
          <a:xfrm>
            <a:off x="1" y="4357985"/>
            <a:ext cx="12192000" cy="2498090"/>
          </a:xfrm>
          <a:prstGeom prst="rect">
            <a:avLst/>
          </a:prstGeom>
        </p:spPr>
      </p:pic>
      <p:pic>
        <p:nvPicPr>
          <p:cNvPr id="4" name="图片 3" descr="11"/>
          <p:cNvPicPr>
            <a:picLocks noChangeAspect="1"/>
          </p:cNvPicPr>
          <p:nvPr/>
        </p:nvPicPr>
        <p:blipFill>
          <a:blip r:embed="rId5" cstate="print"/>
          <a:stretch>
            <a:fillRect/>
          </a:stretch>
        </p:blipFill>
        <p:spPr>
          <a:xfrm>
            <a:off x="3367206" y="644857"/>
            <a:ext cx="6131291" cy="6046788"/>
          </a:xfrm>
          <a:prstGeom prst="rect">
            <a:avLst/>
          </a:prstGeom>
          <a:noFill/>
          <a:ln w="9525">
            <a:noFill/>
          </a:ln>
        </p:spPr>
      </p:pic>
      <p:pic>
        <p:nvPicPr>
          <p:cNvPr id="6" name="PA_库_图片 5"/>
          <p:cNvPicPr>
            <a:picLocks noChangeAspect="1"/>
          </p:cNvPicPr>
          <p:nvPr>
            <p:custDataLst>
              <p:tags r:id="rId1"/>
            </p:custDataLst>
          </p:nvPr>
        </p:nvPicPr>
        <p:blipFill>
          <a:blip r:embed="rId6" cstate="print"/>
          <a:stretch>
            <a:fillRect/>
          </a:stretch>
        </p:blipFill>
        <p:spPr>
          <a:xfrm>
            <a:off x="1116965" y="1781810"/>
            <a:ext cx="2759075" cy="4910455"/>
          </a:xfrm>
          <a:prstGeom prst="rect">
            <a:avLst/>
          </a:prstGeom>
        </p:spPr>
      </p:pic>
      <p:sp>
        <p:nvSpPr>
          <p:cNvPr id="9" name="文本框 8"/>
          <p:cNvSpPr txBox="1"/>
          <p:nvPr/>
        </p:nvSpPr>
        <p:spPr>
          <a:xfrm>
            <a:off x="4056782" y="2359457"/>
            <a:ext cx="3709132"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关系型数据库构件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5" name="矩形 4"/>
          <p:cNvSpPr/>
          <p:nvPr/>
        </p:nvSpPr>
        <p:spPr>
          <a:xfrm>
            <a:off x="4099036" y="3044649"/>
            <a:ext cx="3669423" cy="1569660"/>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Mybatis_plus</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，融合了</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dynamic</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druid</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p6spy</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flyway</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shardingsphere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的一款关系型数据库操作构件，支持动态数据源切换，自动分库分表操作，</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sql</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语句性能监控与数据库脚本自助管理</a:t>
            </a:r>
            <a:r>
              <a:rPr lang="zh-CN" altLang="en-US" sz="1600" dirty="0" smtClean="0">
                <a:solidFill>
                  <a:srgbClr val="476682"/>
                </a:solidFill>
                <a:latin typeface="微软雅黑" panose="020B0503020204020204" charset="-122"/>
                <a:ea typeface="微软雅黑" panose="020B0503020204020204" charset="-122"/>
                <a:cs typeface="微软雅黑" panose="020B0503020204020204" charset="-122"/>
              </a:rPr>
              <a:t>。</a:t>
            </a:r>
            <a:endParaRPr lang="zh-CN" altLang="en-US" sz="1600" dirty="0">
              <a:solidFill>
                <a:srgbClr val="476682"/>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7" cstate="print"/>
          <a:srcRect r="2308"/>
          <a:stretch>
            <a:fillRect/>
          </a:stretch>
        </p:blipFill>
        <p:spPr>
          <a:xfrm>
            <a:off x="8006715" y="2359660"/>
            <a:ext cx="1853565" cy="1816735"/>
          </a:xfrm>
          <a:prstGeom prst="ellipse">
            <a:avLst/>
          </a:prstGeom>
        </p:spPr>
      </p:pic>
      <p:sp>
        <p:nvSpPr>
          <p:cNvPr id="10" name="矩形 9"/>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0">
        <p:random/>
      </p:transition>
    </mc:Choice>
    <mc:Fallback>
      <p:transition spd="slow" advClick="0" advTm="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par>
                                <p:cTn id="15" presetID="2" presetClass="entr" presetSubtype="8" decel="100000" fill="hold" nodeType="with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1500" fill="hold"/>
                                        <p:tgtEl>
                                          <p:spTgt spid="6"/>
                                        </p:tgtEl>
                                        <p:attrNameLst>
                                          <p:attrName>ppt_x</p:attrName>
                                        </p:attrNameLst>
                                      </p:cBhvr>
                                      <p:tavLst>
                                        <p:tav tm="0">
                                          <p:val>
                                            <p:strVal val="0-#ppt_w/2"/>
                                          </p:val>
                                        </p:tav>
                                        <p:tav tm="100000">
                                          <p:val>
                                            <p:strVal val="#ppt_x"/>
                                          </p:val>
                                        </p:tav>
                                      </p:tavLst>
                                    </p:anim>
                                    <p:anim calcmode="lin" valueType="num">
                                      <p:cBhvr additive="base">
                                        <p:cTn id="18" dur="1500" fill="hold"/>
                                        <p:tgtEl>
                                          <p:spTgt spid="6"/>
                                        </p:tgtEl>
                                        <p:attrNameLst>
                                          <p:attrName>ppt_y</p:attrName>
                                        </p:attrNameLst>
                                      </p:cBhvr>
                                      <p:tavLst>
                                        <p:tav tm="0">
                                          <p:val>
                                            <p:strVal val="#ppt_y"/>
                                          </p:val>
                                        </p:tav>
                                        <p:tav tm="100000">
                                          <p:val>
                                            <p:strVal val="#ppt_y"/>
                                          </p:val>
                                        </p:tav>
                                      </p:tavLst>
                                    </p:anim>
                                    <p:set>
                                      <p:cBhvr>
                                        <p:cTn id="19" dur="1" fill="hold">
                                          <p:stCondLst>
                                            <p:cond delay="0"/>
                                          </p:stCondLst>
                                        </p:cTn>
                                        <p:tgtEl>
                                          <p:spTgt spid="6"/>
                                        </p:tgtEl>
                                        <p:attrNameLst>
                                          <p:attrName>style.visibility</p:attrName>
                                        </p:attrNameLst>
                                      </p:cBhvr>
                                      <p:to>
                                        <p:strVal val="visible"/>
                                      </p:to>
                                    </p:set>
                                    <p:anim to="" calcmode="lin" valueType="num">
                                      <p:cBhvr>
                                        <p:cTn id="20" dur="1500" fill="hold">
                                          <p:stCondLst>
                                            <p:cond delay="0"/>
                                          </p:stCondLst>
                                        </p:cTn>
                                        <p:tgtEl>
                                          <p:spTgt spid="6"/>
                                        </p:tgtEl>
                                        <p:attrNameLst>
                                          <p:attrName>ppt_w</p:attrName>
                                        </p:attrNameLst>
                                      </p:cBhvr>
                                      <p:tavLst>
                                        <p:tav tm="0">
                                          <p:val>
                                            <p:fltVal val="0"/>
                                          </p:val>
                                        </p:tav>
                                        <p:tav tm="100000">
                                          <p:val>
                                            <p:strVal val="#ppt_w"/>
                                          </p:val>
                                        </p:tav>
                                      </p:tavLst>
                                    </p:anim>
                                    <p:anim to="" calcmode="lin" valueType="num">
                                      <p:cBhvr>
                                        <p:cTn id="21" dur="1500" fill="hold">
                                          <p:stCondLst>
                                            <p:cond delay="0"/>
                                          </p:stCondLst>
                                        </p:cTn>
                                        <p:tgtEl>
                                          <p:spTgt spid="6"/>
                                        </p:tgtEl>
                                        <p:attrNameLst>
                                          <p:attrName>ppt_h</p:attrName>
                                        </p:attrNameLst>
                                      </p:cBhvr>
                                      <p:tavLst>
                                        <p:tav tm="0">
                                          <p:val>
                                            <p:fltVal val="0"/>
                                          </p:val>
                                        </p:tav>
                                        <p:tav tm="100000">
                                          <p:val>
                                            <p:strVal val="#ppt_h"/>
                                          </p:val>
                                        </p:tav>
                                      </p:tavLst>
                                    </p:anim>
                                    <p:animEffect filter="fade">
                                      <p:cBhvr>
                                        <p:cTn id="22" dur="1500">
                                          <p:stCondLst>
                                            <p:cond delay="0"/>
                                          </p:stCondLst>
                                        </p:cTn>
                                        <p:tgtEl>
                                          <p:spTgt spid="6"/>
                                        </p:tgtEl>
                                      </p:cBhvr>
                                    </p:animEffect>
                                  </p:childTnLst>
                                </p:cTn>
                              </p:par>
                            </p:childTnLst>
                          </p:cTn>
                        </p:par>
                        <p:par>
                          <p:cTn id="23" fill="hold">
                            <p:stCondLst>
                              <p:cond delay="1500"/>
                            </p:stCondLst>
                            <p:childTnLst>
                              <p:par>
                                <p:cTn id="24" presetID="16" presetClass="entr" presetSubtype="21"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arn(inVertical)">
                                      <p:cBhvr>
                                        <p:cTn id="26" dur="500"/>
                                        <p:tgtEl>
                                          <p:spTgt spid="5"/>
                                        </p:tgtEl>
                                      </p:cBhvr>
                                    </p:animEffect>
                                  </p:childTnLst>
                                </p:cTn>
                              </p:par>
                            </p:childTnLst>
                          </p:cTn>
                        </p:par>
                        <p:par>
                          <p:cTn id="27" fill="hold">
                            <p:stCondLst>
                              <p:cond delay="2000"/>
                            </p:stCondLst>
                            <p:childTnLst>
                              <p:par>
                                <p:cTn id="28" presetID="4" presetClass="entr" presetSubtype="32"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ox(out)">
                                      <p:cBhvr>
                                        <p:cTn id="3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6ccb8bc6dbe83c6ae811819d70909b6f"/>
          <p:cNvPicPr>
            <a:picLocks noChangeAspect="1"/>
          </p:cNvPicPr>
          <p:nvPr/>
        </p:nvPicPr>
        <p:blipFill>
          <a:blip r:embed="rId3" cstate="print"/>
          <a:srcRect t="29675"/>
          <a:stretch>
            <a:fillRect/>
          </a:stretch>
        </p:blipFill>
        <p:spPr>
          <a:xfrm>
            <a:off x="-3115" y="4357985"/>
            <a:ext cx="12195115" cy="2498090"/>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2481968" y="1638365"/>
            <a:ext cx="8425290" cy="4620130"/>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519112" y="647700"/>
            <a:ext cx="942975" cy="990600"/>
          </a:xfrm>
          <a:prstGeom prst="rect">
            <a:avLst/>
          </a:prstGeom>
        </p:spPr>
      </p:pic>
      <p:pic>
        <p:nvPicPr>
          <p:cNvPr id="5" name="图片 4"/>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1100137" y="3609975"/>
            <a:ext cx="723900" cy="704850"/>
          </a:xfrm>
          <a:prstGeom prst="rect">
            <a:avLst/>
          </a:prstGeom>
        </p:spPr>
      </p:pic>
      <p:pic>
        <p:nvPicPr>
          <p:cNvPr id="6" name="图片 5"/>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33375" y="5920877"/>
            <a:ext cx="819150" cy="714375"/>
          </a:xfrm>
          <a:prstGeom prst="rect">
            <a:avLst/>
          </a:prstGeom>
        </p:spPr>
      </p:pic>
      <p:pic>
        <p:nvPicPr>
          <p:cNvPr id="7" name="图片 6"/>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10144125" y="695325"/>
            <a:ext cx="895350" cy="942975"/>
          </a:xfrm>
          <a:prstGeom prst="rect">
            <a:avLst/>
          </a:prstGeom>
        </p:spPr>
      </p:pic>
      <p:pic>
        <p:nvPicPr>
          <p:cNvPr id="8" name="图片 7"/>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a:off x="9424987" y="3609975"/>
            <a:ext cx="571500" cy="762000"/>
          </a:xfrm>
          <a:prstGeom prst="rect">
            <a:avLst/>
          </a:prstGeom>
        </p:spPr>
      </p:pic>
      <p:pic>
        <p:nvPicPr>
          <p:cNvPr id="9" name="图片 8"/>
          <p:cNvPicPr>
            <a:picLocks noChangeAspect="1"/>
          </p:cNvPicPr>
          <p:nvPr/>
        </p:nvPicPr>
        <p:blipFill>
          <a:blip r:embed="rId10" cstate="print">
            <a:extLst>
              <a:ext uri="{28A0092B-C50C-407E-A947-70E740481C1C}">
                <a14:useLocalDpi xmlns:a14="http://schemas.microsoft.com/office/drawing/2010/main" xmlns="" val="0"/>
              </a:ext>
            </a:extLst>
          </a:blip>
          <a:stretch>
            <a:fillRect/>
          </a:stretch>
        </p:blipFill>
        <p:spPr>
          <a:xfrm>
            <a:off x="10367963" y="5468439"/>
            <a:ext cx="752475" cy="904875"/>
          </a:xfrm>
          <a:prstGeom prst="rect">
            <a:avLst/>
          </a:prstGeom>
        </p:spPr>
      </p:pic>
      <p:pic>
        <p:nvPicPr>
          <p:cNvPr id="10" name="图片 9"/>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10076491" y="1638260"/>
            <a:ext cx="1769263" cy="2384007"/>
          </a:xfrm>
          <a:prstGeom prst="rect">
            <a:avLst/>
          </a:prstGeom>
        </p:spPr>
      </p:pic>
      <p:pic>
        <p:nvPicPr>
          <p:cNvPr id="13" name="图片 12"/>
          <p:cNvPicPr>
            <a:picLocks noChangeAspect="1"/>
          </p:cNvPicPr>
          <p:nvPr/>
        </p:nvPicPr>
        <p:blipFill>
          <a:blip r:embed="rId12" cstate="print"/>
          <a:stretch>
            <a:fillRect/>
          </a:stretch>
        </p:blipFill>
        <p:spPr>
          <a:xfrm>
            <a:off x="234950" y="2183765"/>
            <a:ext cx="2089785" cy="1986915"/>
          </a:xfrm>
          <a:prstGeom prst="ellipse">
            <a:avLst/>
          </a:prstGeom>
        </p:spPr>
      </p:pic>
      <p:sp>
        <p:nvSpPr>
          <p:cNvPr id="17" name="矩形 16"/>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6" name="文本框 8"/>
          <p:cNvSpPr txBox="1"/>
          <p:nvPr/>
        </p:nvSpPr>
        <p:spPr>
          <a:xfrm>
            <a:off x="4056781" y="2359457"/>
            <a:ext cx="3999397"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en-US" altLang="zh-CN"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REDIS</a:t>
            </a:r>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数据库构件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8" name="矩形 17"/>
          <p:cNvSpPr/>
          <p:nvPr/>
        </p:nvSpPr>
        <p:spPr>
          <a:xfrm>
            <a:off x="4370980" y="3072239"/>
            <a:ext cx="3669423" cy="1077218"/>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redisson</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实现的一款键值数据库操作构件，同时，将围绕</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redis</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操作的相关功能以</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Service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模式对外暴露。</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endParaRPr lang="zh-CN" altLang="en-US" sz="16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Tm="0">
        <p:random/>
      </p:transition>
    </mc:Choice>
    <mc:Fallback>
      <p:transition spd="slow" advTm="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2000"/>
                                        <p:tgtEl>
                                          <p:spTgt spid="13"/>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2500"/>
                            </p:stCondLst>
                            <p:childTnLst>
                              <p:par>
                                <p:cTn id="13" presetID="16" presetClass="entr" presetSubtype="21"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6ccb8bc6dbe83c6ae811819d70909b6f"/>
          <p:cNvPicPr>
            <a:picLocks noChangeAspect="1"/>
          </p:cNvPicPr>
          <p:nvPr/>
        </p:nvPicPr>
        <p:blipFill>
          <a:blip r:embed="rId3" cstate="print"/>
          <a:stretch>
            <a:fillRect/>
          </a:stretch>
        </p:blipFill>
        <p:spPr>
          <a:xfrm>
            <a:off x="826" y="3303885"/>
            <a:ext cx="12191174" cy="3552190"/>
          </a:xfrm>
          <a:prstGeom prst="rect">
            <a:avLst/>
          </a:prstGeom>
        </p:spPr>
      </p:pic>
      <p:pic>
        <p:nvPicPr>
          <p:cNvPr id="2" name="图片 1" descr="258b2ad2d693f5628e36517393941e13"/>
          <p:cNvPicPr>
            <a:picLocks noChangeAspect="1"/>
          </p:cNvPicPr>
          <p:nvPr/>
        </p:nvPicPr>
        <p:blipFill>
          <a:blip r:embed="rId4" cstate="print"/>
          <a:stretch>
            <a:fillRect/>
          </a:stretch>
        </p:blipFill>
        <p:spPr>
          <a:xfrm>
            <a:off x="898525" y="1616710"/>
            <a:ext cx="4914265" cy="4209415"/>
          </a:xfrm>
          <a:prstGeom prst="rect">
            <a:avLst/>
          </a:prstGeom>
        </p:spPr>
      </p:pic>
      <p:pic>
        <p:nvPicPr>
          <p:cNvPr id="3" name="图片 2"/>
          <p:cNvPicPr>
            <a:picLocks noChangeAspect="1"/>
          </p:cNvPicPr>
          <p:nvPr/>
        </p:nvPicPr>
        <p:blipFill>
          <a:blip r:embed="rId5" cstate="print"/>
          <a:srcRect b="-1716"/>
          <a:stretch>
            <a:fillRect/>
          </a:stretch>
        </p:blipFill>
        <p:spPr>
          <a:xfrm>
            <a:off x="1410970" y="2578100"/>
            <a:ext cx="3889375" cy="2785110"/>
          </a:xfrm>
          <a:prstGeom prst="ellipse">
            <a:avLst/>
          </a:prstGeom>
        </p:spPr>
      </p:pic>
      <p:sp>
        <p:nvSpPr>
          <p:cNvPr id="10" name="矩形 9"/>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6077608" y="1484471"/>
            <a:ext cx="4812424"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en-US" altLang="zh-CN"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MONGODB</a:t>
            </a:r>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数据库构件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1" name="矩形 10"/>
          <p:cNvSpPr/>
          <p:nvPr/>
        </p:nvSpPr>
        <p:spPr>
          <a:xfrm>
            <a:off x="6767339" y="2197253"/>
            <a:ext cx="3669423" cy="861774"/>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mongodb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实现的一款文档数据库操作构件，同时，将围绕</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mongodb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操作的相关功能以</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Service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模式对外暴露。</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p:stCondLst>
                              <p:cond delay="1000"/>
                            </p:stCondLst>
                            <p:childTnLst>
                              <p:par>
                                <p:cTn id="19" presetID="16" presetClass="entr" presetSubtype="2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6ccb8bc6dbe83c6ae811819d70909b6f"/>
          <p:cNvPicPr>
            <a:picLocks noChangeAspect="1"/>
          </p:cNvPicPr>
          <p:nvPr/>
        </p:nvPicPr>
        <p:blipFill>
          <a:blip r:embed="rId4" cstate="print"/>
          <a:stretch>
            <a:fillRect/>
          </a:stretch>
        </p:blipFill>
        <p:spPr>
          <a:xfrm>
            <a:off x="826" y="3303885"/>
            <a:ext cx="12191174" cy="3552190"/>
          </a:xfrm>
          <a:prstGeom prst="rect">
            <a:avLst/>
          </a:prstGeom>
        </p:spPr>
      </p:pic>
      <p:pic>
        <p:nvPicPr>
          <p:cNvPr id="3" name="图片 2" descr="18"/>
          <p:cNvPicPr>
            <a:picLocks noChangeAspect="1"/>
          </p:cNvPicPr>
          <p:nvPr/>
        </p:nvPicPr>
        <p:blipFill>
          <a:blip r:embed="rId5" cstate="print"/>
          <a:stretch>
            <a:fillRect/>
          </a:stretch>
        </p:blipFill>
        <p:spPr>
          <a:xfrm>
            <a:off x="5336818" y="695486"/>
            <a:ext cx="5499961" cy="5467028"/>
          </a:xfrm>
          <a:prstGeom prst="rect">
            <a:avLst/>
          </a:prstGeom>
          <a:noFill/>
          <a:ln w="9525">
            <a:noFill/>
          </a:ln>
        </p:spPr>
      </p:pic>
      <p:pic>
        <p:nvPicPr>
          <p:cNvPr id="4" name="PA_库_图片 3"/>
          <p:cNvPicPr>
            <a:picLocks noChangeAspect="1"/>
          </p:cNvPicPr>
          <p:nvPr>
            <p:custDataLst>
              <p:tags r:id="rId1"/>
            </p:custDataLst>
          </p:nvPr>
        </p:nvPicPr>
        <p:blipFill>
          <a:blip r:embed="rId6" cstate="print"/>
          <a:stretch>
            <a:fillRect/>
          </a:stretch>
        </p:blipFill>
        <p:spPr>
          <a:xfrm>
            <a:off x="1508760" y="1354455"/>
            <a:ext cx="4408805" cy="5571490"/>
          </a:xfrm>
          <a:prstGeom prst="rect">
            <a:avLst/>
          </a:prstGeom>
        </p:spPr>
      </p:pic>
      <p:pic>
        <p:nvPicPr>
          <p:cNvPr id="7" name="图片 6"/>
          <p:cNvPicPr>
            <a:picLocks noChangeAspect="1"/>
          </p:cNvPicPr>
          <p:nvPr/>
        </p:nvPicPr>
        <p:blipFill>
          <a:blip r:embed="rId7" cstate="print"/>
          <a:stretch>
            <a:fillRect/>
          </a:stretch>
        </p:blipFill>
        <p:spPr>
          <a:xfrm flipH="1">
            <a:off x="10212471" y="513894"/>
            <a:ext cx="1761296" cy="2388201"/>
          </a:xfrm>
          <a:prstGeom prst="rect">
            <a:avLst/>
          </a:prstGeom>
        </p:spPr>
      </p:pic>
      <p:pic>
        <p:nvPicPr>
          <p:cNvPr id="9" name="图片 8"/>
          <p:cNvPicPr>
            <a:picLocks noChangeAspect="1"/>
          </p:cNvPicPr>
          <p:nvPr/>
        </p:nvPicPr>
        <p:blipFill>
          <a:blip r:embed="rId8" cstate="print"/>
          <a:stretch>
            <a:fillRect/>
          </a:stretch>
        </p:blipFill>
        <p:spPr>
          <a:xfrm>
            <a:off x="7349490" y="4492625"/>
            <a:ext cx="1729105" cy="1669415"/>
          </a:xfrm>
          <a:prstGeom prst="ellipse">
            <a:avLst/>
          </a:prstGeom>
        </p:spPr>
      </p:pic>
      <p:sp>
        <p:nvSpPr>
          <p:cNvPr id="13" name="矩形 12"/>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0" name="文本框 8"/>
          <p:cNvSpPr txBox="1"/>
          <p:nvPr/>
        </p:nvSpPr>
        <p:spPr>
          <a:xfrm>
            <a:off x="5691353" y="2071736"/>
            <a:ext cx="4812424"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en-US" altLang="zh-CN"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ES</a:t>
            </a:r>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数据库构件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2" name="矩形 11"/>
          <p:cNvSpPr/>
          <p:nvPr/>
        </p:nvSpPr>
        <p:spPr>
          <a:xfrm>
            <a:off x="6294374" y="2827874"/>
            <a:ext cx="3669423" cy="1107996"/>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Elasticsearch</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实现的一款索引数据库操作构件，同时，将围绕</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Elasticsearch</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操作的相关功能以</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Service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模式对外暴露。</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0">
        <p:random/>
      </p:transition>
    </mc:Choice>
    <mc:Fallback>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par>
                                <p:cTn id="11" presetID="2" presetClass="entr" presetSubtype="8" decel="100000" fill="hold" nodeType="withEffect">
                                  <p:stCondLst>
                                    <p:cond delay="25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500" fill="hold"/>
                                        <p:tgtEl>
                                          <p:spTgt spid="4"/>
                                        </p:tgtEl>
                                        <p:attrNameLst>
                                          <p:attrName>ppt_x</p:attrName>
                                        </p:attrNameLst>
                                      </p:cBhvr>
                                      <p:tavLst>
                                        <p:tav tm="0">
                                          <p:val>
                                            <p:strVal val="0-#ppt_w/2"/>
                                          </p:val>
                                        </p:tav>
                                        <p:tav tm="100000">
                                          <p:val>
                                            <p:strVal val="#ppt_x"/>
                                          </p:val>
                                        </p:tav>
                                      </p:tavLst>
                                    </p:anim>
                                    <p:anim calcmode="lin" valueType="num">
                                      <p:cBhvr additive="base">
                                        <p:cTn id="14" dur="1500" fill="hold"/>
                                        <p:tgtEl>
                                          <p:spTgt spid="4"/>
                                        </p:tgtEl>
                                        <p:attrNameLst>
                                          <p:attrName>ppt_y</p:attrName>
                                        </p:attrNameLst>
                                      </p:cBhvr>
                                      <p:tavLst>
                                        <p:tav tm="0">
                                          <p:val>
                                            <p:strVal val="#ppt_y"/>
                                          </p:val>
                                        </p:tav>
                                        <p:tav tm="100000">
                                          <p:val>
                                            <p:strVal val="#ppt_y"/>
                                          </p:val>
                                        </p:tav>
                                      </p:tavLst>
                                    </p:anim>
                                    <p:set>
                                      <p:cBhvr>
                                        <p:cTn id="15" dur="1" fill="hold">
                                          <p:stCondLst>
                                            <p:cond delay="0"/>
                                          </p:stCondLst>
                                        </p:cTn>
                                        <p:tgtEl>
                                          <p:spTgt spid="4"/>
                                        </p:tgtEl>
                                        <p:attrNameLst>
                                          <p:attrName>style.visibility</p:attrName>
                                        </p:attrNameLst>
                                      </p:cBhvr>
                                      <p:to>
                                        <p:strVal val="visible"/>
                                      </p:to>
                                    </p:set>
                                    <p:anim to="" calcmode="lin" valueType="num">
                                      <p:cBhvr>
                                        <p:cTn id="16" dur="1500" fill="hold">
                                          <p:stCondLst>
                                            <p:cond delay="0"/>
                                          </p:stCondLst>
                                        </p:cTn>
                                        <p:tgtEl>
                                          <p:spTgt spid="4"/>
                                        </p:tgtEl>
                                        <p:attrNameLst>
                                          <p:attrName>ppt_w</p:attrName>
                                        </p:attrNameLst>
                                      </p:cBhvr>
                                      <p:tavLst>
                                        <p:tav tm="0">
                                          <p:val>
                                            <p:fltVal val="0"/>
                                          </p:val>
                                        </p:tav>
                                        <p:tav tm="100000">
                                          <p:val>
                                            <p:strVal val="#ppt_w"/>
                                          </p:val>
                                        </p:tav>
                                      </p:tavLst>
                                    </p:anim>
                                    <p:anim to="" calcmode="lin" valueType="num">
                                      <p:cBhvr>
                                        <p:cTn id="17" dur="1500" fill="hold">
                                          <p:stCondLst>
                                            <p:cond delay="0"/>
                                          </p:stCondLst>
                                        </p:cTn>
                                        <p:tgtEl>
                                          <p:spTgt spid="4"/>
                                        </p:tgtEl>
                                        <p:attrNameLst>
                                          <p:attrName>ppt_h</p:attrName>
                                        </p:attrNameLst>
                                      </p:cBhvr>
                                      <p:tavLst>
                                        <p:tav tm="0">
                                          <p:val>
                                            <p:fltVal val="0"/>
                                          </p:val>
                                        </p:tav>
                                        <p:tav tm="100000">
                                          <p:val>
                                            <p:strVal val="#ppt_h"/>
                                          </p:val>
                                        </p:tav>
                                      </p:tavLst>
                                    </p:anim>
                                    <p:animEffect filter="fade">
                                      <p:cBhvr>
                                        <p:cTn id="18" dur="1500">
                                          <p:stCondLst>
                                            <p:cond delay="0"/>
                                          </p:stCondLst>
                                        </p:cTn>
                                        <p:tgtEl>
                                          <p:spTgt spid="4"/>
                                        </p:tgtEl>
                                      </p:cBhvr>
                                    </p:animEffect>
                                  </p:childTnLst>
                                </p:cTn>
                              </p:par>
                              <p:par>
                                <p:cTn id="19" presetID="26" presetClass="entr" presetSubtype="0" fill="hold" nodeType="withEffect">
                                  <p:stCondLst>
                                    <p:cond delay="25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80">
                                          <p:stCondLst>
                                            <p:cond delay="0"/>
                                          </p:stCondLst>
                                        </p:cTn>
                                        <p:tgtEl>
                                          <p:spTgt spid="7"/>
                                        </p:tgtEl>
                                      </p:cBhvr>
                                    </p:animEffect>
                                    <p:anim calcmode="lin" valueType="num">
                                      <p:cBhvr>
                                        <p:cTn id="2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7" dur="26">
                                          <p:stCondLst>
                                            <p:cond delay="650"/>
                                          </p:stCondLst>
                                        </p:cTn>
                                        <p:tgtEl>
                                          <p:spTgt spid="7"/>
                                        </p:tgtEl>
                                      </p:cBhvr>
                                      <p:to x="100000" y="60000"/>
                                    </p:animScale>
                                    <p:animScale>
                                      <p:cBhvr>
                                        <p:cTn id="28" dur="166" decel="50000">
                                          <p:stCondLst>
                                            <p:cond delay="676"/>
                                          </p:stCondLst>
                                        </p:cTn>
                                        <p:tgtEl>
                                          <p:spTgt spid="7"/>
                                        </p:tgtEl>
                                      </p:cBhvr>
                                      <p:to x="100000" y="100000"/>
                                    </p:animScale>
                                    <p:animScale>
                                      <p:cBhvr>
                                        <p:cTn id="29" dur="26">
                                          <p:stCondLst>
                                            <p:cond delay="1312"/>
                                          </p:stCondLst>
                                        </p:cTn>
                                        <p:tgtEl>
                                          <p:spTgt spid="7"/>
                                        </p:tgtEl>
                                      </p:cBhvr>
                                      <p:to x="100000" y="80000"/>
                                    </p:animScale>
                                    <p:animScale>
                                      <p:cBhvr>
                                        <p:cTn id="30" dur="166" decel="50000">
                                          <p:stCondLst>
                                            <p:cond delay="1338"/>
                                          </p:stCondLst>
                                        </p:cTn>
                                        <p:tgtEl>
                                          <p:spTgt spid="7"/>
                                        </p:tgtEl>
                                      </p:cBhvr>
                                      <p:to x="100000" y="100000"/>
                                    </p:animScale>
                                    <p:animScale>
                                      <p:cBhvr>
                                        <p:cTn id="31" dur="26">
                                          <p:stCondLst>
                                            <p:cond delay="1642"/>
                                          </p:stCondLst>
                                        </p:cTn>
                                        <p:tgtEl>
                                          <p:spTgt spid="7"/>
                                        </p:tgtEl>
                                      </p:cBhvr>
                                      <p:to x="100000" y="90000"/>
                                    </p:animScale>
                                    <p:animScale>
                                      <p:cBhvr>
                                        <p:cTn id="32" dur="166" decel="50000">
                                          <p:stCondLst>
                                            <p:cond delay="1668"/>
                                          </p:stCondLst>
                                        </p:cTn>
                                        <p:tgtEl>
                                          <p:spTgt spid="7"/>
                                        </p:tgtEl>
                                      </p:cBhvr>
                                      <p:to x="100000" y="100000"/>
                                    </p:animScale>
                                    <p:animScale>
                                      <p:cBhvr>
                                        <p:cTn id="33" dur="26">
                                          <p:stCondLst>
                                            <p:cond delay="1808"/>
                                          </p:stCondLst>
                                        </p:cTn>
                                        <p:tgtEl>
                                          <p:spTgt spid="7"/>
                                        </p:tgtEl>
                                      </p:cBhvr>
                                      <p:to x="100000" y="95000"/>
                                    </p:animScale>
                                    <p:animScale>
                                      <p:cBhvr>
                                        <p:cTn id="34" dur="166" decel="50000">
                                          <p:stCondLst>
                                            <p:cond delay="1834"/>
                                          </p:stCondLst>
                                        </p:cTn>
                                        <p:tgtEl>
                                          <p:spTgt spid="7"/>
                                        </p:tgtEl>
                                      </p:cBhvr>
                                      <p:to x="100000" y="100000"/>
                                    </p:animScale>
                                  </p:childTnLst>
                                </p:cTn>
                              </p:par>
                            </p:childTnLst>
                          </p:cTn>
                        </p:par>
                        <p:par>
                          <p:cTn id="35" fill="hold">
                            <p:stCondLst>
                              <p:cond delay="1000"/>
                            </p:stCondLst>
                            <p:childTnLst>
                              <p:par>
                                <p:cTn id="36" presetID="21" presetClass="entr" presetSubtype="1" fill="hold" nodeType="afterEffect">
                                  <p:stCondLst>
                                    <p:cond delay="0"/>
                                  </p:stCondLst>
                                  <p:childTnLst>
                                    <p:set>
                                      <p:cBhvr>
                                        <p:cTn id="37" dur="1000" fill="hold">
                                          <p:stCondLst>
                                            <p:cond delay="0"/>
                                          </p:stCondLst>
                                        </p:cTn>
                                        <p:tgtEl>
                                          <p:spTgt spid="9"/>
                                        </p:tgtEl>
                                        <p:attrNameLst>
                                          <p:attrName>style.visibility</p:attrName>
                                        </p:attrNameLst>
                                      </p:cBhvr>
                                      <p:to>
                                        <p:strVal val="visible"/>
                                      </p:to>
                                    </p:set>
                                    <p:animEffect transition="in" filter="wheel(1)">
                                      <p:cBhvr>
                                        <p:cTn id="38" dur="1000"/>
                                        <p:tgtEl>
                                          <p:spTgt spid="9"/>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par>
                          <p:cTn id="43" fill="hold">
                            <p:stCondLst>
                              <p:cond delay="2500"/>
                            </p:stCondLst>
                            <p:childTnLst>
                              <p:par>
                                <p:cTn id="44" presetID="16" presetClass="entr" presetSubtype="21"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arn(inVertical)">
                                      <p:cBhvr>
                                        <p:cTn id="4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68960" y="13970"/>
            <a:ext cx="10702925" cy="6167120"/>
          </a:xfrm>
          <a:prstGeom prst="rect">
            <a:avLst/>
          </a:prstGeom>
        </p:spPr>
      </p:pic>
      <p:pic>
        <p:nvPicPr>
          <p:cNvPr id="14" name="图片 13"/>
          <p:cNvPicPr>
            <a:picLocks noChangeAspect="1"/>
          </p:cNvPicPr>
          <p:nvPr/>
        </p:nvPicPr>
        <p:blipFill>
          <a:blip r:embed="rId4" cstate="print"/>
          <a:stretch>
            <a:fillRect/>
          </a:stretch>
        </p:blipFill>
        <p:spPr>
          <a:xfrm>
            <a:off x="1678305" y="2578100"/>
            <a:ext cx="2026920" cy="1906905"/>
          </a:xfrm>
          <a:prstGeom prst="ellipse">
            <a:avLst/>
          </a:prstGeom>
        </p:spPr>
      </p:pic>
      <p:pic>
        <p:nvPicPr>
          <p:cNvPr id="15" name="图片 14" descr="6ccb8bc6dbe83c6ae811819d70909b6f"/>
          <p:cNvPicPr>
            <a:picLocks noChangeAspect="1"/>
          </p:cNvPicPr>
          <p:nvPr/>
        </p:nvPicPr>
        <p:blipFill>
          <a:blip r:embed="rId5" cstate="print"/>
          <a:srcRect t="29675"/>
          <a:stretch>
            <a:fillRect/>
          </a:stretch>
        </p:blipFill>
        <p:spPr>
          <a:xfrm>
            <a:off x="0" y="4357985"/>
            <a:ext cx="12198985" cy="2498090"/>
          </a:xfrm>
          <a:prstGeom prst="rect">
            <a:avLst/>
          </a:prstGeom>
        </p:spPr>
      </p:pic>
      <p:pic>
        <p:nvPicPr>
          <p:cNvPr id="19" name="图片 18"/>
          <p:cNvPicPr>
            <a:picLocks noChangeAspect="1"/>
          </p:cNvPicPr>
          <p:nvPr/>
        </p:nvPicPr>
        <p:blipFill>
          <a:blip r:embed="rId6" cstate="print"/>
          <a:stretch>
            <a:fillRect/>
          </a:stretch>
        </p:blipFill>
        <p:spPr>
          <a:xfrm flipH="1">
            <a:off x="1795780" y="5316220"/>
            <a:ext cx="1622425" cy="1026795"/>
          </a:xfrm>
          <a:prstGeom prst="rect">
            <a:avLst/>
          </a:prstGeom>
        </p:spPr>
      </p:pic>
      <p:sp>
        <p:nvSpPr>
          <p:cNvPr id="10" name="矩形 9"/>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5080437" y="2150564"/>
            <a:ext cx="3712780"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en-US" altLang="zh-CN"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Zookeeper</a:t>
            </a:r>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2" name="矩形 11"/>
          <p:cNvSpPr/>
          <p:nvPr/>
        </p:nvSpPr>
        <p:spPr>
          <a:xfrm>
            <a:off x="4832132" y="2894877"/>
            <a:ext cx="4158146" cy="861774"/>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curator</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实现的一款</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zk</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操作构件，同时，将围绕</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zk</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操作的相关功能以</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Service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模式对外暴露。</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68960" y="-140186"/>
            <a:ext cx="10702925" cy="6167120"/>
          </a:xfrm>
          <a:prstGeom prst="rect">
            <a:avLst/>
          </a:prstGeom>
        </p:spPr>
      </p:pic>
      <p:pic>
        <p:nvPicPr>
          <p:cNvPr id="15" name="图片 14" descr="6ccb8bc6dbe83c6ae811819d70909b6f"/>
          <p:cNvPicPr>
            <a:picLocks noChangeAspect="1"/>
          </p:cNvPicPr>
          <p:nvPr/>
        </p:nvPicPr>
        <p:blipFill>
          <a:blip r:embed="rId4" cstate="print"/>
          <a:srcRect t="29675"/>
          <a:stretch>
            <a:fillRect/>
          </a:stretch>
        </p:blipFill>
        <p:spPr>
          <a:xfrm>
            <a:off x="1" y="4357985"/>
            <a:ext cx="12192000" cy="2498090"/>
          </a:xfrm>
          <a:prstGeom prst="rect">
            <a:avLst/>
          </a:prstGeom>
        </p:spPr>
      </p:pic>
      <p:pic>
        <p:nvPicPr>
          <p:cNvPr id="19" name="图片 18"/>
          <p:cNvPicPr>
            <a:picLocks noChangeAspect="1"/>
          </p:cNvPicPr>
          <p:nvPr/>
        </p:nvPicPr>
        <p:blipFill>
          <a:blip r:embed="rId5" cstate="print"/>
          <a:stretch>
            <a:fillRect/>
          </a:stretch>
        </p:blipFill>
        <p:spPr>
          <a:xfrm flipH="1">
            <a:off x="1795780" y="5316220"/>
            <a:ext cx="1622425" cy="1026795"/>
          </a:xfrm>
          <a:prstGeom prst="rect">
            <a:avLst/>
          </a:prstGeom>
        </p:spPr>
      </p:pic>
      <p:pic>
        <p:nvPicPr>
          <p:cNvPr id="9" name="图片 8"/>
          <p:cNvPicPr>
            <a:picLocks noChangeAspect="1"/>
          </p:cNvPicPr>
          <p:nvPr/>
        </p:nvPicPr>
        <p:blipFill>
          <a:blip r:embed="rId6" cstate="print"/>
          <a:stretch>
            <a:fillRect/>
          </a:stretch>
        </p:blipFill>
        <p:spPr>
          <a:xfrm>
            <a:off x="1881505" y="2614295"/>
            <a:ext cx="2179320" cy="1950720"/>
          </a:xfrm>
          <a:prstGeom prst="ellipse">
            <a:avLst/>
          </a:prstGeom>
        </p:spPr>
      </p:pic>
      <p:sp>
        <p:nvSpPr>
          <p:cNvPr id="12" name="矩形 11"/>
          <p:cNvSpPr/>
          <p:nvPr/>
        </p:nvSpPr>
        <p:spPr>
          <a:xfrm>
            <a:off x="422365" y="322631"/>
            <a:ext cx="4714752" cy="400110"/>
          </a:xfrm>
          <a:prstGeom prst="rect">
            <a:avLst/>
          </a:prstGeom>
        </p:spPr>
        <p:txBody>
          <a:bodyPr wrap="non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数据构件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DATA</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0" name="文本框 8"/>
          <p:cNvSpPr txBox="1"/>
          <p:nvPr/>
        </p:nvSpPr>
        <p:spPr>
          <a:xfrm>
            <a:off x="5474575" y="2146623"/>
            <a:ext cx="3121573"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en-US" altLang="zh-CN"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MQ</a:t>
            </a:r>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3" name="矩形 12"/>
          <p:cNvSpPr/>
          <p:nvPr/>
        </p:nvSpPr>
        <p:spPr>
          <a:xfrm>
            <a:off x="4907017" y="2855464"/>
            <a:ext cx="4138439" cy="830997"/>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Kafka</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Rabbitmq</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 ，</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Rocketmq</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实现的一款队列操作构件，同时，将围绕队列操作的相关功能以</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Service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模式对外暴露。</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ce1ed7f935192fceca30dfb2bcebe602"/>
          <p:cNvPicPr>
            <a:picLocks noChangeAspect="1"/>
          </p:cNvPicPr>
          <p:nvPr/>
        </p:nvPicPr>
        <p:blipFill>
          <a:blip r:embed="rId3" cstate="print"/>
          <a:srcRect l="11188" t="20367" r="10619" b="19944"/>
          <a:stretch>
            <a:fillRect/>
          </a:stretch>
        </p:blipFill>
        <p:spPr>
          <a:xfrm>
            <a:off x="6198235" y="1352550"/>
            <a:ext cx="6001385" cy="4152900"/>
          </a:xfrm>
          <a:prstGeom prst="rect">
            <a:avLst/>
          </a:prstGeom>
        </p:spPr>
      </p:pic>
      <p:pic>
        <p:nvPicPr>
          <p:cNvPr id="13" name="图片 12" descr="ce1ed7f935192fceca30dfb2bcebe602"/>
          <p:cNvPicPr>
            <a:picLocks noChangeAspect="1"/>
          </p:cNvPicPr>
          <p:nvPr/>
        </p:nvPicPr>
        <p:blipFill>
          <a:blip r:embed="rId3" cstate="print"/>
          <a:srcRect l="11188" t="20367" r="10619" b="19944"/>
          <a:stretch>
            <a:fillRect/>
          </a:stretch>
        </p:blipFill>
        <p:spPr>
          <a:xfrm>
            <a:off x="485775" y="1352550"/>
            <a:ext cx="6001385" cy="4152900"/>
          </a:xfrm>
          <a:prstGeom prst="rect">
            <a:avLst/>
          </a:prstGeom>
        </p:spPr>
      </p:pic>
      <p:pic>
        <p:nvPicPr>
          <p:cNvPr id="9" name="图片 8" descr="6ccb8bc6dbe83c6ae811819d70909b6f"/>
          <p:cNvPicPr>
            <a:picLocks noChangeAspect="1"/>
          </p:cNvPicPr>
          <p:nvPr/>
        </p:nvPicPr>
        <p:blipFill>
          <a:blip r:embed="rId4" cstate="print"/>
          <a:stretch>
            <a:fillRect/>
          </a:stretch>
        </p:blipFill>
        <p:spPr>
          <a:xfrm>
            <a:off x="0" y="3313965"/>
            <a:ext cx="12198985" cy="3552190"/>
          </a:xfrm>
          <a:prstGeom prst="rect">
            <a:avLst/>
          </a:prstGeom>
        </p:spPr>
      </p:pic>
      <p:pic>
        <p:nvPicPr>
          <p:cNvPr id="2" name="图片 1" descr="7"/>
          <p:cNvPicPr>
            <a:picLocks noChangeAspect="1"/>
          </p:cNvPicPr>
          <p:nvPr/>
        </p:nvPicPr>
        <p:blipFill>
          <a:blip r:embed="rId5" cstate="print"/>
          <a:stretch>
            <a:fillRect/>
          </a:stretch>
        </p:blipFill>
        <p:spPr>
          <a:xfrm>
            <a:off x="4719320" y="3874770"/>
            <a:ext cx="3001010" cy="3001010"/>
          </a:xfrm>
          <a:prstGeom prst="rect">
            <a:avLst/>
          </a:prstGeom>
        </p:spPr>
      </p:pic>
      <p:sp>
        <p:nvSpPr>
          <p:cNvPr id="15" name="矩形 14"/>
          <p:cNvSpPr/>
          <p:nvPr/>
        </p:nvSpPr>
        <p:spPr>
          <a:xfrm>
            <a:off x="422365" y="322631"/>
            <a:ext cx="4979248" cy="400110"/>
          </a:xfrm>
          <a:prstGeom prst="rect">
            <a:avLst/>
          </a:prstGeom>
        </p:spPr>
        <p:txBody>
          <a:bodyPr wrap="none">
            <a:spAutoFit/>
          </a:bodyPr>
          <a:lstStyle/>
          <a:p>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缓存构件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framework-cache</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CACHE</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2" name="文本框 8"/>
          <p:cNvSpPr txBox="1"/>
          <p:nvPr/>
        </p:nvSpPr>
        <p:spPr>
          <a:xfrm>
            <a:off x="1706601" y="2418594"/>
            <a:ext cx="3121573"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本地缓存构件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16" name="矩形 15"/>
          <p:cNvSpPr/>
          <p:nvPr/>
        </p:nvSpPr>
        <p:spPr>
          <a:xfrm>
            <a:off x="1139043" y="3127435"/>
            <a:ext cx="4229116" cy="584775"/>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Caffeine</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的实现，可根据缓存名称自定义缓存数据过期时间。</a:t>
            </a:r>
          </a:p>
        </p:txBody>
      </p:sp>
      <p:sp>
        <p:nvSpPr>
          <p:cNvPr id="19" name="文本框 8"/>
          <p:cNvSpPr txBox="1"/>
          <p:nvPr/>
        </p:nvSpPr>
        <p:spPr>
          <a:xfrm>
            <a:off x="7327024" y="2417281"/>
            <a:ext cx="3463143" cy="523220"/>
          </a:xfrm>
          <a:prstGeom prst="rect">
            <a:avLst/>
          </a:prstGeom>
          <a:noFill/>
        </p:spPr>
        <p:txBody>
          <a:bodyPr wrap="square" rtlCol="0">
            <a:spAutoFit/>
          </a:bodyPr>
          <a:lstStyle>
            <a:defPPr>
              <a:defRPr lang="zh-CN"/>
            </a:defPPr>
            <a:lvl1pPr algn="ctr">
              <a:defRPr sz="3600" b="1" spc="600">
                <a:solidFill>
                  <a:srgbClr val="C14F34"/>
                </a:solidFill>
                <a:latin typeface="+mj-ea"/>
                <a:ea typeface="+mj-ea"/>
              </a:defRPr>
            </a:lvl1pPr>
          </a:lstStyle>
          <a:p>
            <a:r>
              <a:rPr lang="zh-CN" altLang="en-US" sz="2800"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分布式缓存构件</a:t>
            </a:r>
            <a:endParaRPr lang="zh-CN" altLang="en-US" sz="2800"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sp>
        <p:nvSpPr>
          <p:cNvPr id="20" name="矩形 19"/>
          <p:cNvSpPr/>
          <p:nvPr/>
        </p:nvSpPr>
        <p:spPr>
          <a:xfrm>
            <a:off x="7203512" y="3126126"/>
            <a:ext cx="4138439" cy="584775"/>
          </a:xfrm>
          <a:prstGeom prst="rect">
            <a:avLst/>
          </a:prstGeom>
          <a:noFill/>
          <a:extLst>
            <a:ext uri="{909E8E84-426E-40DD-AFC4-6F175D3DCCD1}">
              <a14:hiddenFill xmlns:a14="http://schemas.microsoft.com/office/drawing/2010/main" xmlns="">
                <a:solidFill>
                  <a:srgbClr val="D8F0E1">
                    <a:alpha val="71000"/>
                  </a:srgbClr>
                </a:solidFill>
              </a14:hiddenFill>
            </a:ext>
          </a:extLst>
        </p:spPr>
        <p:txBody>
          <a:bodyPr wrap="square">
            <a:spAutoFit/>
          </a:bodyPr>
          <a:lstStyle/>
          <a:p>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sz="16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Redis</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的实现，可根据缓存名称自定义缓存数据过期时间。</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arn(inVertical)">
                                      <p:cBhvr>
                                        <p:cTn id="16" dur="500"/>
                                        <p:tgtEl>
                                          <p:spTgt spid="1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par>
                          <p:cTn id="21" fill="hold">
                            <p:stCondLst>
                              <p:cond delay="2000"/>
                            </p:stCondLst>
                            <p:childTnLst>
                              <p:par>
                                <p:cTn id="22" presetID="16" presetClass="entr" presetSubtype="21"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arn(inVertical)">
                                      <p:cBhvr>
                                        <p:cTn id="2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bldLvl="0" animBg="1"/>
      <p:bldP spid="19" grpId="0"/>
      <p:bldP spid="2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6ccb8bc6dbe83c6ae811819d70909b6f"/>
          <p:cNvPicPr>
            <a:picLocks noChangeAspect="1"/>
          </p:cNvPicPr>
          <p:nvPr/>
        </p:nvPicPr>
        <p:blipFill>
          <a:blip r:embed="rId3" cstate="print"/>
          <a:stretch>
            <a:fillRect/>
          </a:stretch>
        </p:blipFill>
        <p:spPr>
          <a:xfrm>
            <a:off x="0" y="3306083"/>
            <a:ext cx="12192000" cy="3552190"/>
          </a:xfrm>
          <a:prstGeom prst="rect">
            <a:avLst/>
          </a:prstGeom>
        </p:spPr>
      </p:pic>
      <p:pic>
        <p:nvPicPr>
          <p:cNvPr id="9" name="图片 8" descr="6e3e461d6fe4261ffac34bab182ac1ed"/>
          <p:cNvPicPr>
            <a:picLocks noChangeAspect="1"/>
          </p:cNvPicPr>
          <p:nvPr/>
        </p:nvPicPr>
        <p:blipFill>
          <a:blip r:embed="rId4" cstate="print"/>
          <a:stretch>
            <a:fillRect/>
          </a:stretch>
        </p:blipFill>
        <p:spPr>
          <a:xfrm>
            <a:off x="488315" y="254635"/>
            <a:ext cx="11093450" cy="5057775"/>
          </a:xfrm>
          <a:prstGeom prst="rect">
            <a:avLst/>
          </a:prstGeom>
        </p:spPr>
      </p:pic>
      <p:pic>
        <p:nvPicPr>
          <p:cNvPr id="7" name="图片 6"/>
          <p:cNvPicPr>
            <a:picLocks noChangeAspect="1"/>
          </p:cNvPicPr>
          <p:nvPr/>
        </p:nvPicPr>
        <p:blipFill>
          <a:blip r:embed="rId5" cstate="print"/>
          <a:stretch>
            <a:fillRect/>
          </a:stretch>
        </p:blipFill>
        <p:spPr>
          <a:xfrm>
            <a:off x="8195945" y="1996440"/>
            <a:ext cx="2921635" cy="2019300"/>
          </a:xfrm>
          <a:prstGeom prst="ellipse">
            <a:avLst/>
          </a:prstGeom>
          <a:effectLst>
            <a:softEdge rad="127000"/>
          </a:effectLst>
        </p:spPr>
      </p:pic>
      <p:sp>
        <p:nvSpPr>
          <p:cNvPr id="6" name="矩形 5"/>
          <p:cNvSpPr/>
          <p:nvPr/>
        </p:nvSpPr>
        <p:spPr>
          <a:xfrm>
            <a:off x="2217504" y="1803173"/>
            <a:ext cx="6327403" cy="2308324"/>
          </a:xfrm>
          <a:prstGeom prst="rect">
            <a:avLst/>
          </a:prstGeom>
        </p:spPr>
        <p:txBody>
          <a:bodyPr wrap="square">
            <a:spAutoFit/>
          </a:bodyPr>
          <a:lstStyle/>
          <a:p>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REDIS</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的分布式锁：锁的模型不够健壮，宕机发生时，存在丢失数据的可能性，导致分布式锁出现问题。同时，获取不到锁时会直接不断尝试获取锁，比较消耗性能。但好处是性能高，支持获取锁时设置等待时间。</a:t>
            </a:r>
            <a:b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
            </a:r>
            <a:b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基于</a:t>
            </a:r>
            <a:r>
              <a:rPr lang="en-US" altLang="zh-CN"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ZK</a:t>
            </a: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的分布式锁：锁的模型健壮、简单易用、如果获取不到锁，只需要添加一个监听器就可以了，不用一直轮询，</a:t>
            </a:r>
            <a:b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性能消耗较小。</a:t>
            </a:r>
            <a:endParaRPr lang="zh-CN" altLang="en-US"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sp>
        <p:nvSpPr>
          <p:cNvPr id="3" name="矩形 2"/>
          <p:cNvSpPr/>
          <p:nvPr/>
        </p:nvSpPr>
        <p:spPr>
          <a:xfrm>
            <a:off x="3656244" y="1358981"/>
            <a:ext cx="4459875" cy="461665"/>
          </a:xfrm>
          <a:prstGeom prst="rect">
            <a:avLst/>
          </a:prstGeom>
        </p:spPr>
        <p:txBody>
          <a:bodyPr wrap="none">
            <a:spAutoFit/>
          </a:bodyPr>
          <a:lstStyle/>
          <a:p>
            <a:r>
              <a:rPr lang="zh-CN" altLang="en-US" sz="24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提供基于</a:t>
            </a:r>
            <a:r>
              <a:rPr lang="en-US" altLang="zh-CN" sz="2400" b="1" dirty="0" err="1" smtClean="0">
                <a:solidFill>
                  <a:srgbClr val="FF999B"/>
                </a:solidFill>
                <a:latin typeface="方正舒体" panose="02010601030101010101" pitchFamily="2" charset="-122"/>
                <a:ea typeface="方正舒体" panose="02010601030101010101" pitchFamily="2" charset="-122"/>
                <a:cs typeface="微软雅黑" panose="020B0503020204020204" charset="-122"/>
              </a:rPr>
              <a:t>Redis</a:t>
            </a:r>
            <a:r>
              <a:rPr lang="zh-CN" altLang="en-US" sz="24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和</a:t>
            </a:r>
            <a:r>
              <a:rPr lang="en-US" altLang="zh-CN" sz="24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ZK</a:t>
            </a:r>
            <a:r>
              <a:rPr lang="zh-CN" altLang="en-US" sz="24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的两种实现</a:t>
            </a:r>
            <a:endParaRPr lang="zh-CN" altLang="en-US" sz="24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8" name="矩形 7"/>
          <p:cNvSpPr/>
          <p:nvPr/>
        </p:nvSpPr>
        <p:spPr>
          <a:xfrm>
            <a:off x="422365" y="322631"/>
            <a:ext cx="6565576" cy="400110"/>
          </a:xfrm>
          <a:prstGeom prst="rect">
            <a:avLst/>
          </a:prstGeom>
        </p:spPr>
        <p:txBody>
          <a:bodyPr wrap="squar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分布式锁</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a:t>
            </a:r>
            <a:r>
              <a:rPr lang="en-US" altLang="zh-CN" sz="2000" b="1" dirty="0" err="1" smtClean="0">
                <a:solidFill>
                  <a:srgbClr val="FF0000"/>
                </a:solidFill>
                <a:latin typeface="方正舒体" panose="02010601030101010101" pitchFamily="2" charset="-122"/>
                <a:ea typeface="方正舒体" panose="02010601030101010101" pitchFamily="2" charset="-122"/>
                <a:cs typeface="微软雅黑" panose="020B0503020204020204" charset="-122"/>
              </a:rPr>
              <a:t>distributedlock</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DL</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000" fill="hold">
                                          <p:stCondLst>
                                            <p:cond delay="0"/>
                                          </p:stCondLst>
                                        </p:cTn>
                                        <p:tgtEl>
                                          <p:spTgt spid="6"/>
                                        </p:tgtEl>
                                        <p:attrNameLst>
                                          <p:attrName>style.visibility</p:attrName>
                                        </p:attrNameLst>
                                      </p:cBhvr>
                                      <p:to>
                                        <p:strVal val="visible"/>
                                      </p:to>
                                    </p:set>
                                    <p:animEffect transition="in" filter="box(out)">
                                      <p:cBhvr>
                                        <p:cTn id="15" dur="1000"/>
                                        <p:tgtEl>
                                          <p:spTgt spid="6"/>
                                        </p:tgtEl>
                                      </p:cBhvr>
                                    </p:animEffect>
                                  </p:childTnLst>
                                </p:cTn>
                              </p:par>
                            </p:childTnLst>
                          </p:cTn>
                        </p:par>
                        <p:par>
                          <p:cTn id="16" fill="hold">
                            <p:stCondLst>
                              <p:cond delay="2000"/>
                            </p:stCondLst>
                            <p:childTnLst>
                              <p:par>
                                <p:cTn id="17" presetID="5" presetClass="entr" presetSubtype="1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heckerboard(across)">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ce1ed7f935192fceca30dfb2bcebe602"/>
          <p:cNvPicPr>
            <a:picLocks noChangeAspect="1"/>
          </p:cNvPicPr>
          <p:nvPr/>
        </p:nvPicPr>
        <p:blipFill>
          <a:blip r:embed="rId3" cstate="print"/>
          <a:srcRect l="11188" t="20367" r="10619" b="19944"/>
          <a:stretch>
            <a:fillRect/>
          </a:stretch>
        </p:blipFill>
        <p:spPr>
          <a:xfrm>
            <a:off x="1614170" y="1045845"/>
            <a:ext cx="10015855" cy="4152900"/>
          </a:xfrm>
          <a:prstGeom prst="rect">
            <a:avLst/>
          </a:prstGeom>
        </p:spPr>
      </p:pic>
      <p:pic>
        <p:nvPicPr>
          <p:cNvPr id="2" name="图片 1"/>
          <p:cNvPicPr>
            <a:picLocks noChangeAspect="1"/>
          </p:cNvPicPr>
          <p:nvPr/>
        </p:nvPicPr>
        <p:blipFill>
          <a:blip r:embed="rId4" cstate="print"/>
          <a:stretch>
            <a:fillRect/>
          </a:stretch>
        </p:blipFill>
        <p:spPr>
          <a:xfrm>
            <a:off x="8382000" y="2247900"/>
            <a:ext cx="2536825" cy="1748155"/>
          </a:xfrm>
          <a:prstGeom prst="ellipse">
            <a:avLst/>
          </a:prstGeom>
          <a:effectLst>
            <a:softEdge rad="127000"/>
          </a:effectLst>
        </p:spPr>
      </p:pic>
      <p:pic>
        <p:nvPicPr>
          <p:cNvPr id="12" name="图片 11" descr="6ccb8bc6dbe83c6ae811819d70909b6f"/>
          <p:cNvPicPr>
            <a:picLocks noChangeAspect="1"/>
          </p:cNvPicPr>
          <p:nvPr/>
        </p:nvPicPr>
        <p:blipFill>
          <a:blip r:embed="rId5" cstate="print"/>
          <a:stretch>
            <a:fillRect/>
          </a:stretch>
        </p:blipFill>
        <p:spPr>
          <a:xfrm>
            <a:off x="0" y="3305679"/>
            <a:ext cx="12192001" cy="3552190"/>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636905" y="3921736"/>
            <a:ext cx="2592705" cy="2562273"/>
          </a:xfrm>
          <a:prstGeom prst="rect">
            <a:avLst/>
          </a:prstGeom>
        </p:spPr>
      </p:pic>
      <p:sp>
        <p:nvSpPr>
          <p:cNvPr id="8" name="矩形 7"/>
          <p:cNvSpPr/>
          <p:nvPr/>
        </p:nvSpPr>
        <p:spPr>
          <a:xfrm>
            <a:off x="422365" y="322631"/>
            <a:ext cx="5449046" cy="400110"/>
          </a:xfrm>
          <a:prstGeom prst="rect">
            <a:avLst/>
          </a:prstGeom>
        </p:spPr>
        <p:txBody>
          <a:bodyPr wrap="squar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文档</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framework-document</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DOC</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972003" y="1903107"/>
            <a:ext cx="5407374" cy="2215991"/>
          </a:xfrm>
          <a:prstGeom prst="rect">
            <a:avLst/>
          </a:prstGeom>
          <a:noFill/>
        </p:spPr>
        <p:txBody>
          <a:bodyPr wrap="square" rtlCol="0">
            <a:spAutoFit/>
          </a:bodyPr>
          <a:lstStyle/>
          <a:p>
            <a:pPr>
              <a:lnSpc>
                <a:spcPct val="150000"/>
              </a:lnSpc>
            </a:pP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提供支持任意类别的复杂格式文档的制作能力</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a:p>
            <a:pPr>
              <a:lnSpc>
                <a:spcPct val="150000"/>
              </a:lnSpc>
            </a:pPr>
            <a:r>
              <a:rPr lang="zh-CN" altLang="en-US"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设计发明一种文档数据描述规则对各种类型的文档模板进行了一层语法包装，让开发者无需关注文档制作的实现细节，只需要传入约定格式的数据即可获得与期望格式一致的文档。</a:t>
            </a:r>
            <a:endParaRPr lang="zh-CN" altLang="en-US" b="1" dirty="0">
              <a:solidFill>
                <a:srgbClr val="47668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par>
                          <p:cTn id="17" fill="hold">
                            <p:stCondLst>
                              <p:cond delay="1500"/>
                            </p:stCondLst>
                            <p:childTnLst>
                              <p:par>
                                <p:cTn id="18" presetID="16" presetClass="entr" presetSubtype="2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45c407e3387dca278e382816eec1a0d2"/>
          <p:cNvPicPr>
            <a:picLocks noChangeAspect="1"/>
          </p:cNvPicPr>
          <p:nvPr/>
        </p:nvPicPr>
        <p:blipFill>
          <a:blip r:embed="rId3" cstate="print"/>
          <a:stretch>
            <a:fillRect/>
          </a:stretch>
        </p:blipFill>
        <p:spPr>
          <a:xfrm>
            <a:off x="635" y="3996130"/>
            <a:ext cx="12190730" cy="2865120"/>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823211" y="2276475"/>
            <a:ext cx="6756512" cy="4776470"/>
          </a:xfrm>
          <a:prstGeom prst="rect">
            <a:avLst/>
          </a:prstGeom>
        </p:spPr>
      </p:pic>
      <p:pic>
        <p:nvPicPr>
          <p:cNvPr id="11" name="图片 10" descr="ce1ed7f935192fceca30dfb2bcebe602"/>
          <p:cNvPicPr>
            <a:picLocks noChangeAspect="1"/>
          </p:cNvPicPr>
          <p:nvPr/>
        </p:nvPicPr>
        <p:blipFill>
          <a:blip r:embed="rId5" cstate="print"/>
          <a:srcRect l="11188" t="20367" r="10619" b="19944"/>
          <a:stretch>
            <a:fillRect/>
          </a:stretch>
        </p:blipFill>
        <p:spPr>
          <a:xfrm rot="1140000">
            <a:off x="7713980" y="4142740"/>
            <a:ext cx="734695" cy="473710"/>
          </a:xfrm>
          <a:prstGeom prst="rect">
            <a:avLst/>
          </a:prstGeom>
        </p:spPr>
      </p:pic>
      <p:pic>
        <p:nvPicPr>
          <p:cNvPr id="12" name="图片 11" descr="ce1ed7f935192fceca30dfb2bcebe602"/>
          <p:cNvPicPr>
            <a:picLocks noChangeAspect="1"/>
          </p:cNvPicPr>
          <p:nvPr/>
        </p:nvPicPr>
        <p:blipFill>
          <a:blip r:embed="rId6" cstate="print"/>
          <a:srcRect l="11188" t="20367" r="10619" b="19944"/>
          <a:stretch>
            <a:fillRect/>
          </a:stretch>
        </p:blipFill>
        <p:spPr>
          <a:xfrm rot="1140000">
            <a:off x="6546850" y="3546475"/>
            <a:ext cx="1165860" cy="751840"/>
          </a:xfrm>
          <a:prstGeom prst="rect">
            <a:avLst/>
          </a:prstGeom>
        </p:spPr>
      </p:pic>
      <p:pic>
        <p:nvPicPr>
          <p:cNvPr id="13" name="图片 12" descr="ce1ed7f935192fceca30dfb2bcebe602"/>
          <p:cNvPicPr>
            <a:picLocks noChangeAspect="1"/>
          </p:cNvPicPr>
          <p:nvPr/>
        </p:nvPicPr>
        <p:blipFill>
          <a:blip r:embed="rId7" cstate="print"/>
          <a:srcRect l="11188" t="20367" r="10619" b="19944"/>
          <a:stretch>
            <a:fillRect/>
          </a:stretch>
        </p:blipFill>
        <p:spPr>
          <a:xfrm>
            <a:off x="69850" y="779780"/>
            <a:ext cx="7415530" cy="4152900"/>
          </a:xfrm>
          <a:prstGeom prst="rect">
            <a:avLst/>
          </a:prstGeom>
        </p:spPr>
      </p:pic>
      <p:sp>
        <p:nvSpPr>
          <p:cNvPr id="14" name="文本框 13"/>
          <p:cNvSpPr txBox="1"/>
          <p:nvPr/>
        </p:nvSpPr>
        <p:spPr>
          <a:xfrm>
            <a:off x="2963720" y="1978590"/>
            <a:ext cx="3477010" cy="1702069"/>
          </a:xfrm>
          <a:prstGeom prst="rect">
            <a:avLst/>
          </a:prstGeom>
          <a:noFill/>
        </p:spPr>
        <p:txBody>
          <a:bodyPr wrap="square" rtlCol="0">
            <a:spAutoFit/>
          </a:bodyPr>
          <a:lstStyle/>
          <a:p>
            <a:pPr>
              <a:lnSpc>
                <a:spcPct val="150000"/>
              </a:lnSpc>
            </a:pPr>
            <a:r>
              <a:rPr lang="zh-CN" altLang="en-US"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支持钉钉，企业微信，短信，邮件四种消息类型。</a:t>
            </a:r>
            <a:endParaRPr lang="en-US" altLang="zh-CN" dirty="0" smtClean="0">
              <a:solidFill>
                <a:srgbClr val="FF999B"/>
              </a:solidFill>
              <a:latin typeface="方正舒体" panose="02010601030101010101" pitchFamily="2" charset="-122"/>
              <a:ea typeface="方正舒体" panose="02010601030101010101" pitchFamily="2" charset="-122"/>
              <a:cs typeface="微软雅黑" panose="020B0503020204020204" charset="-122"/>
            </a:endParaRPr>
          </a:p>
          <a:p>
            <a:pPr>
              <a:lnSpc>
                <a:spcPct val="150000"/>
              </a:lnSpc>
            </a:pPr>
            <a:r>
              <a:rPr lang="zh-CN" altLang="en-US"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支持单条实时与多条异步批量两种发送模式。</a:t>
            </a:r>
            <a:endParaRPr lang="zh-CN" altLang="en-US" b="1" dirty="0">
              <a:solidFill>
                <a:srgbClr val="476682"/>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8" cstate="print"/>
          <a:stretch>
            <a:fillRect/>
          </a:stretch>
        </p:blipFill>
        <p:spPr>
          <a:xfrm>
            <a:off x="550545" y="1952625"/>
            <a:ext cx="2201545" cy="1807845"/>
          </a:xfrm>
          <a:prstGeom prst="ellipse">
            <a:avLst/>
          </a:prstGeom>
        </p:spPr>
      </p:pic>
      <p:sp>
        <p:nvSpPr>
          <p:cNvPr id="15" name="矩形 14"/>
          <p:cNvSpPr/>
          <p:nvPr/>
        </p:nvSpPr>
        <p:spPr>
          <a:xfrm>
            <a:off x="422365" y="322631"/>
            <a:ext cx="6209441" cy="400110"/>
          </a:xfrm>
          <a:prstGeom prst="rect">
            <a:avLst/>
          </a:prstGeom>
        </p:spPr>
        <p:txBody>
          <a:bodyPr wrap="square">
            <a:spAutoFit/>
          </a:bodyPr>
          <a:lstStyle/>
          <a:p>
            <a:r>
              <a:rPr lang="zh-CN" altLang="en-US"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消息</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framework-message</a:t>
            </a:r>
            <a:r>
              <a:rPr lang="zh-CN" altLang="en-US"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a:solidFill>
                  <a:srgbClr val="FF0000"/>
                </a:solidFill>
                <a:latin typeface="方正舒体" panose="02010601030101010101" pitchFamily="2" charset="-122"/>
                <a:ea typeface="方正舒体" panose="02010601030101010101" pitchFamily="2" charset="-122"/>
                <a:cs typeface="微软雅黑" panose="020B0503020204020204" charset="-122"/>
              </a:rPr>
              <a:t>MESSAGE</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ccb8bc6dbe83c6ae811819d70909b6f"/>
          <p:cNvPicPr>
            <a:picLocks noChangeAspect="1"/>
          </p:cNvPicPr>
          <p:nvPr/>
        </p:nvPicPr>
        <p:blipFill>
          <a:blip r:embed="rId3" cstate="print"/>
          <a:stretch>
            <a:fillRect/>
          </a:stretch>
        </p:blipFill>
        <p:spPr>
          <a:xfrm>
            <a:off x="0" y="3304520"/>
            <a:ext cx="12191999" cy="355219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rot="229869">
            <a:off x="1744163" y="-457200"/>
            <a:ext cx="8943340" cy="8431530"/>
          </a:xfrm>
          <a:prstGeom prst="rect">
            <a:avLst/>
          </a:prstGeom>
        </p:spPr>
      </p:pic>
      <p:grpSp>
        <p:nvGrpSpPr>
          <p:cNvPr id="3" name="组合 2"/>
          <p:cNvGrpSpPr/>
          <p:nvPr/>
        </p:nvGrpSpPr>
        <p:grpSpPr>
          <a:xfrm>
            <a:off x="3161000" y="2050583"/>
            <a:ext cx="5277493" cy="4461138"/>
            <a:chOff x="6379163" y="1682293"/>
            <a:chExt cx="5277493" cy="4461138"/>
          </a:xfrm>
        </p:grpSpPr>
        <p:sp>
          <p:nvSpPr>
            <p:cNvPr id="6" name="矩形 39"/>
            <p:cNvSpPr>
              <a:spLocks noChangeArrowheads="1"/>
            </p:cNvSpPr>
            <p:nvPr/>
          </p:nvSpPr>
          <p:spPr bwMode="auto">
            <a:xfrm>
              <a:off x="6379163" y="2696333"/>
              <a:ext cx="5107699" cy="34470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218565">
                <a:lnSpc>
                  <a:spcPct val="150000"/>
                </a:lnSpc>
                <a:spcBef>
                  <a:spcPts val="1000"/>
                </a:spcBef>
                <a:defRPr/>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具备的性能：</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defTabSz="1218565">
                <a:lnSpc>
                  <a:spcPct val="150000"/>
                </a:lnSpc>
                <a:spcBef>
                  <a:spcPts val="1000"/>
                </a:spcBef>
                <a:defRPr/>
              </a:pP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1</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、高可用  </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defTabSz="1218565">
                <a:lnSpc>
                  <a:spcPct val="150000"/>
                </a:lnSpc>
                <a:spcBef>
                  <a:spcPts val="1000"/>
                </a:spcBef>
                <a:defRPr/>
              </a:pP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2</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、低延迟</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defTabSz="1218565">
                <a:lnSpc>
                  <a:spcPct val="150000"/>
                </a:lnSpc>
                <a:spcBef>
                  <a:spcPts val="1000"/>
                </a:spcBef>
                <a:defRPr/>
              </a:pP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3</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、高</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QPS</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：百万级</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defTabSz="1218565">
                <a:lnSpc>
                  <a:spcPct val="150000"/>
                </a:lnSpc>
                <a:spcBef>
                  <a:spcPts val="1000"/>
                </a:spcBef>
                <a:defRPr/>
              </a:pP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4</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、可对生成的</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ID</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进行基因混淆以隐藏原始</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ID</a:t>
              </a:r>
              <a:r>
                <a:rPr lang="zh-CN" altLang="en-US" sz="1600" dirty="0" smtClean="0"/>
                <a:t>。</a:t>
              </a:r>
              <a:endParaRPr lang="zh-CN" altLang="en-US" sz="16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defTabSz="1218565">
                <a:lnSpc>
                  <a:spcPct val="150000"/>
                </a:lnSpc>
                <a:spcBef>
                  <a:spcPts val="1000"/>
                </a:spcBef>
                <a:defRPr/>
              </a:pPr>
              <a:endParaRPr lang="zh-CN" altLang="en-US" sz="1600" dirty="0">
                <a:solidFill>
                  <a:srgbClr val="476682"/>
                </a:solidFill>
                <a:latin typeface="微软雅黑" panose="020B0503020204020204" charset="-122"/>
                <a:ea typeface="微软雅黑" panose="020B0503020204020204" charset="-122"/>
                <a:cs typeface="微软雅黑" panose="020B0503020204020204" charset="-122"/>
              </a:endParaRPr>
            </a:p>
            <a:p>
              <a:pPr defTabSz="1218565">
                <a:lnSpc>
                  <a:spcPct val="150000"/>
                </a:lnSpc>
                <a:spcBef>
                  <a:spcPts val="1000"/>
                </a:spcBef>
                <a:defRPr/>
              </a:pPr>
              <a:endParaRPr lang="zh-CN" altLang="en-US" sz="1600"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7" name="矩形 39"/>
            <p:cNvSpPr>
              <a:spLocks noChangeArrowheads="1"/>
            </p:cNvSpPr>
            <p:nvPr/>
          </p:nvSpPr>
          <p:spPr bwMode="auto">
            <a:xfrm>
              <a:off x="6820584" y="1682293"/>
              <a:ext cx="4836072" cy="9414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218565">
                <a:lnSpc>
                  <a:spcPct val="150000"/>
                </a:lnSpc>
                <a:spcBef>
                  <a:spcPts val="1000"/>
                </a:spcBef>
                <a:defRPr/>
              </a:pP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基于</a:t>
              </a:r>
              <a:r>
                <a:rPr lang="en-US" altLang="zh-CN"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twitter-snowflake</a:t>
              </a: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a:t>
              </a:r>
              <a:r>
                <a:rPr lang="en-US" altLang="zh-CN"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leaf-segment</a:t>
              </a: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a:t>
              </a:r>
              <a:r>
                <a:rPr lang="en-US" altLang="zh-CN" sz="2000" b="1" dirty="0" err="1"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baidu-uid</a:t>
              </a: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进行整合的唯一</a:t>
              </a:r>
              <a:r>
                <a:rPr lang="en-US" altLang="zh-CN"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ID</a:t>
              </a: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rPr>
                <a:t>生成器</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sym typeface="+mn-ea"/>
              </a:endParaRPr>
            </a:p>
          </p:txBody>
        </p:sp>
      </p:grpSp>
      <p:pic>
        <p:nvPicPr>
          <p:cNvPr id="8" name="图片 7"/>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5358306" y="3174387"/>
            <a:ext cx="1321435" cy="1354455"/>
          </a:xfrm>
          <a:prstGeom prst="rect">
            <a:avLst/>
          </a:prstGeom>
        </p:spPr>
      </p:pic>
      <p:pic>
        <p:nvPicPr>
          <p:cNvPr id="10" name="图片 9"/>
          <p:cNvPicPr>
            <a:picLocks noChangeAspect="1"/>
          </p:cNvPicPr>
          <p:nvPr/>
        </p:nvPicPr>
        <p:blipFill>
          <a:blip r:embed="rId6" cstate="print"/>
          <a:srcRect b="40343"/>
          <a:stretch>
            <a:fillRect/>
          </a:stretch>
        </p:blipFill>
        <p:spPr>
          <a:xfrm>
            <a:off x="8369279" y="2126441"/>
            <a:ext cx="2486660" cy="1974850"/>
          </a:xfrm>
          <a:prstGeom prst="ellipse">
            <a:avLst/>
          </a:prstGeom>
          <a:ln>
            <a:solidFill>
              <a:schemeClr val="accent1"/>
            </a:solidFill>
          </a:ln>
          <a:effectLst>
            <a:softEdge rad="63500"/>
          </a:effectLst>
        </p:spPr>
      </p:pic>
      <p:pic>
        <p:nvPicPr>
          <p:cNvPr id="7173" name="图片 20"/>
          <p:cNvPicPr>
            <a:picLocks noChangeAspect="1"/>
          </p:cNvPicPr>
          <p:nvPr/>
        </p:nvPicPr>
        <p:blipFill>
          <a:blip r:embed="rId7" cstate="print"/>
          <a:stretch>
            <a:fillRect/>
          </a:stretch>
        </p:blipFill>
        <p:spPr>
          <a:xfrm>
            <a:off x="9524365" y="494030"/>
            <a:ext cx="1363980" cy="1242695"/>
          </a:xfrm>
          <a:prstGeom prst="rect">
            <a:avLst/>
          </a:prstGeom>
          <a:noFill/>
          <a:ln w="9525">
            <a:noFill/>
          </a:ln>
        </p:spPr>
      </p:pic>
      <p:sp>
        <p:nvSpPr>
          <p:cNvPr id="11" name="矩形 10"/>
          <p:cNvSpPr/>
          <p:nvPr/>
        </p:nvSpPr>
        <p:spPr>
          <a:xfrm>
            <a:off x="422365" y="322631"/>
            <a:ext cx="3568606" cy="400110"/>
          </a:xfrm>
          <a:prstGeom prst="rect">
            <a:avLst/>
          </a:prstGeom>
        </p:spPr>
        <p:txBody>
          <a:bodyPr wrap="none">
            <a:spAutoFit/>
          </a:bodyPr>
          <a:lstStyle/>
          <a:p>
            <a:r>
              <a:rPr lang="en-US" altLang="zh-CN" sz="2000" b="1" dirty="0">
                <a:solidFill>
                  <a:srgbClr val="476682"/>
                </a:solidFill>
                <a:latin typeface="方正舒体" panose="02010601030101010101" pitchFamily="2" charset="-122"/>
                <a:ea typeface="方正舒体" panose="02010601030101010101" pitchFamily="2" charset="-122"/>
                <a:cs typeface="微软雅黑" panose="020B0503020204020204" charset="-122"/>
              </a:rPr>
              <a:t>ID</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构件：</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framework-id</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ID</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pic>
        <p:nvPicPr>
          <p:cNvPr id="2" name="图片 1" descr="5a7a97c6144fe"/>
          <p:cNvPicPr>
            <a:picLocks noChangeAspect="1"/>
          </p:cNvPicPr>
          <p:nvPr/>
        </p:nvPicPr>
        <p:blipFill>
          <a:blip r:embed="rId8" cstate="print"/>
          <a:stretch>
            <a:fillRect/>
          </a:stretch>
        </p:blipFill>
        <p:spPr>
          <a:xfrm>
            <a:off x="-859155" y="4101465"/>
            <a:ext cx="4527550" cy="3019425"/>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0">
        <p:random/>
      </p:transition>
    </mc:Choice>
    <mc:Fallback>
      <p:transition spd="slow" advClick="0" advTm="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ccb8bc6dbe83c6ae811819d70909b6f"/>
          <p:cNvPicPr>
            <a:picLocks noChangeAspect="1"/>
          </p:cNvPicPr>
          <p:nvPr/>
        </p:nvPicPr>
        <p:blipFill>
          <a:blip r:embed="rId3" cstate="print"/>
          <a:stretch>
            <a:fillRect/>
          </a:stretch>
        </p:blipFill>
        <p:spPr>
          <a:xfrm>
            <a:off x="0" y="3307618"/>
            <a:ext cx="12192000" cy="3552190"/>
          </a:xfrm>
          <a:prstGeom prst="rect">
            <a:avLst/>
          </a:prstGeom>
        </p:spPr>
      </p:pic>
      <p:sp>
        <p:nvSpPr>
          <p:cNvPr id="10" name="文本框 9"/>
          <p:cNvSpPr txBox="1"/>
          <p:nvPr/>
        </p:nvSpPr>
        <p:spPr>
          <a:xfrm>
            <a:off x="1834250" y="793284"/>
            <a:ext cx="6067924" cy="829945"/>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工程可以获得统一异常处理，关键字段自动加解密，常规</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接口（比如上传，下载）等通用功能。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4" cstate="print"/>
          <a:stretch>
            <a:fillRect/>
          </a:stretch>
        </p:blipFill>
        <p:spPr>
          <a:xfrm rot="20863766">
            <a:off x="7404215" y="126403"/>
            <a:ext cx="4829931" cy="3100401"/>
          </a:xfrm>
          <a:prstGeom prst="ellipse">
            <a:avLst/>
          </a:prstGeom>
          <a:effectLst>
            <a:softEdge rad="317500"/>
          </a:effectLst>
        </p:spPr>
      </p:pic>
      <p:pic>
        <p:nvPicPr>
          <p:cNvPr id="3" name="图片 2"/>
          <p:cNvPicPr>
            <a:picLocks noChangeAspect="1"/>
          </p:cNvPicPr>
          <p:nvPr/>
        </p:nvPicPr>
        <p:blipFill>
          <a:blip r:embed="rId5" cstate="print"/>
          <a:stretch>
            <a:fillRect/>
          </a:stretch>
        </p:blipFill>
        <p:spPr>
          <a:xfrm>
            <a:off x="7372350" y="3323590"/>
            <a:ext cx="4693285" cy="2973070"/>
          </a:xfrm>
          <a:prstGeom prst="ellipse">
            <a:avLst/>
          </a:prstGeom>
          <a:effectLst>
            <a:softEdge rad="317500"/>
          </a:effectLst>
        </p:spPr>
      </p:pic>
      <p:sp>
        <p:nvSpPr>
          <p:cNvPr id="6" name="矩形 5"/>
          <p:cNvSpPr/>
          <p:nvPr/>
        </p:nvSpPr>
        <p:spPr>
          <a:xfrm>
            <a:off x="544318" y="1029119"/>
            <a:ext cx="1217000" cy="40011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核心模块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12" name="矩形 11"/>
          <p:cNvSpPr/>
          <p:nvPr/>
        </p:nvSpPr>
        <p:spPr>
          <a:xfrm>
            <a:off x="422365" y="322631"/>
            <a:ext cx="6370655" cy="400110"/>
          </a:xfrm>
          <a:prstGeom prst="rect">
            <a:avLst/>
          </a:prstGeom>
        </p:spPr>
        <p:txBody>
          <a:bodyPr wrap="none">
            <a:spAutoFit/>
          </a:bodyPr>
          <a:lstStyle/>
          <a:p>
            <a:r>
              <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SERVER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框架构件</a:t>
            </a:r>
            <a:r>
              <a:rPr lang="zh-CN" altLang="en-US" sz="2000" b="1" dirty="0" smtClean="0">
                <a:solidFill>
                  <a:srgbClr val="34705E"/>
                </a:solidFill>
                <a:latin typeface="微软雅黑" panose="020B0503020204020204" charset="-122"/>
                <a:ea typeface="微软雅黑" panose="020B0503020204020204"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framework-server</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r>
              <a:rPr lang="en-US" altLang="zh-CN"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SERVER</a:t>
            </a:r>
            <a:r>
              <a:rPr lang="zh-CN" altLang="en-US" sz="2000" b="1" dirty="0" smtClean="0">
                <a:solidFill>
                  <a:srgbClr val="FF0000"/>
                </a:solidFill>
                <a:latin typeface="方正舒体" panose="02010601030101010101" pitchFamily="2" charset="-122"/>
                <a:ea typeface="方正舒体" panose="02010601030101010101" pitchFamily="2" charset="-122"/>
                <a:cs typeface="微软雅黑" panose="020B0503020204020204" charset="-122"/>
              </a:rPr>
              <a:t>）</a:t>
            </a:r>
            <a:endParaRPr lang="zh-CN" altLang="en-US" sz="2000" b="1" dirty="0">
              <a:solidFill>
                <a:srgbClr val="34705E"/>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540991" y="1744534"/>
            <a:ext cx="1203960" cy="39878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防御模块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13" name="文本框 9"/>
          <p:cNvSpPr txBox="1"/>
          <p:nvPr/>
        </p:nvSpPr>
        <p:spPr>
          <a:xfrm>
            <a:off x="1854881" y="1552623"/>
            <a:ext cx="6067924" cy="830997"/>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工程可以在核心模块基础之上获得对外</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接口完全防护的功能。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14" name="矩形 13"/>
          <p:cNvSpPr/>
          <p:nvPr/>
        </p:nvSpPr>
        <p:spPr>
          <a:xfrm>
            <a:off x="545650" y="4658877"/>
            <a:ext cx="1217000" cy="40011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授权模块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15" name="文本框 9"/>
          <p:cNvSpPr txBox="1"/>
          <p:nvPr/>
        </p:nvSpPr>
        <p:spPr>
          <a:xfrm>
            <a:off x="1855470" y="4450715"/>
            <a:ext cx="5527040" cy="829945"/>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JWT</a:t>
            </a:r>
          </a:p>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认证功能与接口访问鉴权功能。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16" name="矩形 15"/>
          <p:cNvSpPr/>
          <p:nvPr/>
        </p:nvSpPr>
        <p:spPr>
          <a:xfrm>
            <a:off x="546316" y="5394255"/>
            <a:ext cx="1475084" cy="40011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验证码模块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17" name="文本框 9"/>
          <p:cNvSpPr txBox="1"/>
          <p:nvPr/>
        </p:nvSpPr>
        <p:spPr>
          <a:xfrm>
            <a:off x="1859915" y="5170170"/>
            <a:ext cx="4871720" cy="830997"/>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工程可以在核心模块基础之上获得各种验证码功能。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522186" y="2563425"/>
            <a:ext cx="1203960" cy="39878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频控模块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5" name="文本框 9"/>
          <p:cNvSpPr txBox="1"/>
          <p:nvPr/>
        </p:nvSpPr>
        <p:spPr>
          <a:xfrm>
            <a:off x="1835785" y="2339340"/>
            <a:ext cx="5871210" cy="829945"/>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工程可以在核心模块基础之上获得不同维度</a:t>
            </a:r>
            <a:r>
              <a:rPr 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频率控制</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530441" y="3251765"/>
            <a:ext cx="1217000" cy="40011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调度模块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18" name="文本框 9"/>
          <p:cNvSpPr txBox="1"/>
          <p:nvPr/>
        </p:nvSpPr>
        <p:spPr>
          <a:xfrm>
            <a:off x="1844331" y="3027910"/>
            <a:ext cx="6067924" cy="829945"/>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工程可以在核心模块基础之上获得动态</a:t>
            </a:r>
            <a:endPar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endParaRPr>
          </a:p>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作业调度功能。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
        <p:nvSpPr>
          <p:cNvPr id="19" name="矩形 18"/>
          <p:cNvSpPr/>
          <p:nvPr/>
        </p:nvSpPr>
        <p:spPr>
          <a:xfrm>
            <a:off x="527901" y="3950900"/>
            <a:ext cx="1203960" cy="398780"/>
          </a:xfrm>
          <a:prstGeom prst="rect">
            <a:avLst/>
          </a:prstGeom>
        </p:spPr>
        <p:txBody>
          <a:bodyPr wrap="none">
            <a:spAutoFit/>
          </a:bodyPr>
          <a:lstStyle/>
          <a:p>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桥接模块</a:t>
            </a:r>
            <a:endParaRPr lang="zh-CN" altLang="en-US" sz="2000" b="1" dirty="0">
              <a:solidFill>
                <a:srgbClr val="FF999B"/>
              </a:solidFill>
              <a:latin typeface="方正舒体" panose="02010601030101010101" pitchFamily="2" charset="-122"/>
              <a:ea typeface="方正舒体" panose="02010601030101010101" pitchFamily="2" charset="-122"/>
              <a:cs typeface="微软雅黑" panose="020B0503020204020204" charset="-122"/>
            </a:endParaRPr>
          </a:p>
        </p:txBody>
      </p:sp>
      <p:sp>
        <p:nvSpPr>
          <p:cNvPr id="20" name="文本框 9"/>
          <p:cNvSpPr txBox="1"/>
          <p:nvPr/>
        </p:nvSpPr>
        <p:spPr>
          <a:xfrm>
            <a:off x="1841791" y="3727045"/>
            <a:ext cx="6067924" cy="829945"/>
          </a:xfrm>
          <a:prstGeom prst="rect">
            <a:avLst/>
          </a:prstGeom>
          <a:noFill/>
        </p:spPr>
        <p:txBody>
          <a:bodyPr wrap="square" rtlCol="0">
            <a:spAutoFit/>
          </a:bodyPr>
          <a:lstStyle/>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依赖该模块创建</a:t>
            </a:r>
            <a:r>
              <a:rPr lang="en-US" altLang="zh-CN"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web</a:t>
            </a: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工程可以在核心模块基础之上获得外部</a:t>
            </a:r>
          </a:p>
          <a:p>
            <a:pPr algn="l">
              <a:lnSpc>
                <a:spcPct val="150000"/>
              </a:lnSpc>
            </a:pPr>
            <a:r>
              <a:rPr lang="zh-CN" altLang="en-US" sz="16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接口调用相关的公共能力封装功能。</a:t>
            </a:r>
            <a:endParaRPr lang="zh-CN" altLang="en-US" sz="1600" b="1" dirty="0">
              <a:solidFill>
                <a:srgbClr val="47668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2000"/>
                                        <p:tgtEl>
                                          <p:spTgt spid="7"/>
                                        </p:tgtEl>
                                      </p:cBhvr>
                                    </p:animEffect>
                                  </p:childTnLst>
                                </p:cTn>
                              </p:par>
                            </p:childTnLst>
                          </p:cTn>
                        </p:par>
                        <p:par>
                          <p:cTn id="12" fill="hold">
                            <p:stCondLst>
                              <p:cond delay="2500"/>
                            </p:stCondLst>
                            <p:childTnLst>
                              <p:par>
                                <p:cTn id="13" presetID="4" presetClass="entr" presetSubtype="1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ox(in)">
                                      <p:cBhvr>
                                        <p:cTn id="15" dur="2000"/>
                                        <p:tgtEl>
                                          <p:spTgt spid="3"/>
                                        </p:tgtEl>
                                      </p:cBhvr>
                                    </p:animEffect>
                                  </p:childTnLst>
                                </p:cTn>
                              </p:par>
                            </p:childTnLst>
                          </p:cTn>
                        </p:par>
                        <p:par>
                          <p:cTn id="16" fill="hold">
                            <p:stCondLst>
                              <p:cond delay="4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50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par>
                          <p:cTn id="24" fill="hold">
                            <p:stCondLst>
                              <p:cond delay="550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6000"/>
                            </p:stCondLst>
                            <p:childTnLst>
                              <p:par>
                                <p:cTn id="29" presetID="10"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par>
                          <p:cTn id="32" fill="hold">
                            <p:stCondLst>
                              <p:cond delay="65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par>
                          <p:cTn id="36" fill="hold">
                            <p:stCondLst>
                              <p:cond delay="7000"/>
                            </p:stCondLst>
                            <p:childTnLst>
                              <p:par>
                                <p:cTn id="37" presetID="10"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5" grpId="0"/>
      <p:bldP spid="17" grpId="0"/>
      <p:bldP spid="5" grpId="0"/>
      <p:bldP spid="18"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45c407e3387dca278e382816eec1a0d2"/>
          <p:cNvPicPr>
            <a:picLocks noChangeAspect="1"/>
          </p:cNvPicPr>
          <p:nvPr/>
        </p:nvPicPr>
        <p:blipFill>
          <a:blip r:embed="rId3" cstate="print"/>
          <a:stretch>
            <a:fillRect/>
          </a:stretch>
        </p:blipFill>
        <p:spPr>
          <a:xfrm>
            <a:off x="0" y="2477770"/>
            <a:ext cx="12192000" cy="4380230"/>
          </a:xfrm>
          <a:prstGeom prst="rect">
            <a:avLst/>
          </a:prstGeom>
        </p:spPr>
      </p:pic>
      <p:pic>
        <p:nvPicPr>
          <p:cNvPr id="4" name="图片 3" descr="5b6ce715ee482"/>
          <p:cNvPicPr>
            <a:picLocks noChangeAspect="1"/>
          </p:cNvPicPr>
          <p:nvPr/>
        </p:nvPicPr>
        <p:blipFill>
          <a:blip r:embed="rId4" cstate="print"/>
          <a:stretch>
            <a:fillRect/>
          </a:stretch>
        </p:blipFill>
        <p:spPr>
          <a:xfrm>
            <a:off x="4102100" y="3671570"/>
            <a:ext cx="4408805" cy="3109595"/>
          </a:xfrm>
          <a:prstGeom prst="rect">
            <a:avLst/>
          </a:prstGeom>
        </p:spPr>
      </p:pic>
      <p:pic>
        <p:nvPicPr>
          <p:cNvPr id="5" name="图片 4" descr="6e3e461d6fe4261ffac34bab182ac1ed"/>
          <p:cNvPicPr>
            <a:picLocks noChangeAspect="1"/>
          </p:cNvPicPr>
          <p:nvPr/>
        </p:nvPicPr>
        <p:blipFill>
          <a:blip r:embed="rId5" cstate="print"/>
          <a:stretch>
            <a:fillRect/>
          </a:stretch>
        </p:blipFill>
        <p:spPr>
          <a:xfrm>
            <a:off x="1811020" y="273050"/>
            <a:ext cx="8569960" cy="4753610"/>
          </a:xfrm>
          <a:prstGeom prst="rect">
            <a:avLst/>
          </a:prstGeom>
        </p:spPr>
      </p:pic>
      <p:sp>
        <p:nvSpPr>
          <p:cNvPr id="17" name="文本框 16"/>
          <p:cNvSpPr txBox="1"/>
          <p:nvPr/>
        </p:nvSpPr>
        <p:spPr>
          <a:xfrm>
            <a:off x="3605664" y="2374656"/>
            <a:ext cx="5644214" cy="1200329"/>
          </a:xfrm>
          <a:prstGeom prst="rect">
            <a:avLst/>
          </a:prstGeom>
          <a:noFill/>
        </p:spPr>
        <p:txBody>
          <a:bodyPr wrap="square" rtlCol="0">
            <a:spAutoFit/>
          </a:bodyPr>
          <a:lstStyle/>
          <a:p>
            <a:pPr algn="ctr"/>
            <a:r>
              <a:rPr lang="en-US" altLang="zh-CN" sz="7200" dirty="0" err="1">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72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7200" dirty="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之道</a:t>
            </a:r>
            <a:endParaRPr lang="zh-CN" altLang="en-US" sz="7200" b="1" dirty="0">
              <a:solidFill>
                <a:srgbClr val="476682"/>
              </a:solidFill>
              <a:latin typeface="方正稚艺简体" panose="03000509000000000000" pitchFamily="65" charset="-122"/>
              <a:ea typeface="方正稚艺简体" panose="03000509000000000000" pitchFamily="65" charset="-122"/>
              <a:cs typeface="文鼎DC香蕉人体F_B" panose="040B0800000000000000" charset="-122"/>
            </a:endParaRPr>
          </a:p>
        </p:txBody>
      </p:sp>
      <p:sp>
        <p:nvSpPr>
          <p:cNvPr id="27" name="文本框 26"/>
          <p:cNvSpPr txBox="1"/>
          <p:nvPr/>
        </p:nvSpPr>
        <p:spPr>
          <a:xfrm>
            <a:off x="5931535" y="1053465"/>
            <a:ext cx="829073" cy="1569660"/>
          </a:xfrm>
          <a:prstGeom prst="rect">
            <a:avLst/>
          </a:prstGeom>
          <a:noFill/>
        </p:spPr>
        <p:txBody>
          <a:bodyPr wrap="none" rtlCol="0">
            <a:spAutoFit/>
          </a:bodyPr>
          <a:lstStyle/>
          <a:p>
            <a:r>
              <a:rPr lang="en-US" altLang="zh-CN" sz="9600" b="1" dirty="0">
                <a:solidFill>
                  <a:srgbClr val="476682"/>
                </a:solidFill>
                <a:latin typeface="方正舒体" panose="02010601030101010101" pitchFamily="2" charset="-122"/>
                <a:ea typeface="方正舒体" panose="02010601030101010101" pitchFamily="2" charset="-122"/>
              </a:rPr>
              <a:t>3</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ccb8bc6dbe83c6ae811819d70909b6f"/>
          <p:cNvPicPr>
            <a:picLocks noChangeAspect="1"/>
          </p:cNvPicPr>
          <p:nvPr/>
        </p:nvPicPr>
        <p:blipFill>
          <a:blip r:embed="rId3" cstate="print"/>
          <a:stretch>
            <a:fillRect/>
          </a:stretch>
        </p:blipFill>
        <p:spPr>
          <a:xfrm>
            <a:off x="0" y="3305810"/>
            <a:ext cx="12192000" cy="3552190"/>
          </a:xfrm>
          <a:prstGeom prst="rect">
            <a:avLst/>
          </a:prstGeom>
        </p:spPr>
      </p:pic>
      <p:pic>
        <p:nvPicPr>
          <p:cNvPr id="4" name="内容占位符 3" descr="大象跳.gif"/>
          <p:cNvPicPr>
            <a:picLocks noGrp="1" noChangeAspect="1"/>
          </p:cNvPicPr>
          <p:nvPr>
            <p:ph idx="4294967295"/>
          </p:nvPr>
        </p:nvPicPr>
        <p:blipFill>
          <a:blip r:embed="rId4" cstate="print"/>
          <a:stretch>
            <a:fillRect/>
          </a:stretch>
        </p:blipFill>
        <p:spPr>
          <a:xfrm>
            <a:off x="1121406" y="1684584"/>
            <a:ext cx="4705116" cy="3688811"/>
          </a:xfrm>
        </p:spPr>
      </p:pic>
      <p:sp>
        <p:nvSpPr>
          <p:cNvPr id="5" name="标题 1"/>
          <p:cNvSpPr txBox="1"/>
          <p:nvPr/>
        </p:nvSpPr>
        <p:spPr>
          <a:xfrm>
            <a:off x="913297" y="1080390"/>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技术大家族</a:t>
            </a:r>
            <a:endParaRPr lang="zh-CN" altLang="en-US" sz="2400" b="1" dirty="0">
              <a:solidFill>
                <a:srgbClr val="FF999B"/>
              </a:solidFill>
              <a:latin typeface="微软雅黑" panose="020B0503020204020204" charset="-122"/>
              <a:ea typeface="微软雅黑" panose="020B0503020204020204" charset="-122"/>
            </a:endParaRPr>
          </a:p>
        </p:txBody>
      </p:sp>
      <p:pic>
        <p:nvPicPr>
          <p:cNvPr id="6" name="内容占位符 3" descr="河马.gif"/>
          <p:cNvPicPr>
            <a:picLocks noChangeAspect="1"/>
          </p:cNvPicPr>
          <p:nvPr/>
        </p:nvPicPr>
        <p:blipFill>
          <a:blip r:embed="rId5" cstate="print"/>
          <a:stretch>
            <a:fillRect/>
          </a:stretch>
        </p:blipFill>
        <p:spPr>
          <a:xfrm>
            <a:off x="6316278" y="1655380"/>
            <a:ext cx="4762500" cy="3771899"/>
          </a:xfrm>
          <a:prstGeom prst="rect">
            <a:avLst/>
          </a:prstGeom>
        </p:spPr>
      </p:pic>
      <p:pic>
        <p:nvPicPr>
          <p:cNvPr id="3" name="图片 2"/>
          <p:cNvPicPr>
            <a:picLocks noChangeAspect="1"/>
          </p:cNvPicPr>
          <p:nvPr/>
        </p:nvPicPr>
        <p:blipFill rotWithShape="1">
          <a:blip r:embed="rId6" cstate="print">
            <a:extLst>
              <a:ext uri="{28A0092B-C50C-407E-A947-70E740481C1C}">
                <a14:useLocalDpi xmlns:a14="http://schemas.microsoft.com/office/drawing/2010/main" xmlns="" val="0"/>
              </a:ext>
            </a:extLst>
          </a:blip>
          <a:srcRect l="15806" t="12258" r="11253" b="65141"/>
          <a:stretch>
            <a:fillRect/>
          </a:stretch>
        </p:blipFill>
        <p:spPr>
          <a:xfrm>
            <a:off x="3594893" y="-113178"/>
            <a:ext cx="5002213" cy="1549970"/>
          </a:xfrm>
          <a:prstGeom prst="rect">
            <a:avLst/>
          </a:prstGeom>
        </p:spPr>
      </p:pic>
      <p:pic>
        <p:nvPicPr>
          <p:cNvPr id="10" name="内容占位符 3" descr="大象跳.gif"/>
          <p:cNvPicPr>
            <a:picLocks noGrp="1" noChangeAspect="1"/>
          </p:cNvPicPr>
          <p:nvPr/>
        </p:nvPicPr>
        <p:blipFill>
          <a:blip r:embed="rId4" cstate="print"/>
          <a:stretch>
            <a:fillRect/>
          </a:stretch>
        </p:blipFill>
        <p:spPr>
          <a:xfrm>
            <a:off x="1121406" y="1664264"/>
            <a:ext cx="4705116" cy="3688811"/>
          </a:xfrm>
        </p:spPr>
      </p:pic>
      <p:pic>
        <p:nvPicPr>
          <p:cNvPr id="17" name="图片 20"/>
          <p:cNvPicPr>
            <a:picLocks noChangeAspect="1"/>
          </p:cNvPicPr>
          <p:nvPr/>
        </p:nvPicPr>
        <p:blipFill>
          <a:blip r:embed="rId7" cstate="print"/>
          <a:stretch>
            <a:fillRect/>
          </a:stretch>
        </p:blipFill>
        <p:spPr>
          <a:xfrm>
            <a:off x="10797463" y="-40794"/>
            <a:ext cx="1363980" cy="1242695"/>
          </a:xfrm>
          <a:prstGeom prst="rect">
            <a:avLst/>
          </a:prstGeom>
          <a:noFill/>
          <a:ln w="9525">
            <a:noFill/>
          </a:ln>
        </p:spPr>
      </p:pic>
      <p:sp>
        <p:nvSpPr>
          <p:cNvPr id="13" name="矩形 12"/>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之道</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pic>
        <p:nvPicPr>
          <p:cNvPr id="14" name="内容占位符 3" descr="熊熊.gif"/>
          <p:cNvPicPr>
            <a:picLocks noChangeAspect="1"/>
          </p:cNvPicPr>
          <p:nvPr/>
        </p:nvPicPr>
        <p:blipFill>
          <a:blip r:embed="rId8" cstate="print"/>
          <a:stretch>
            <a:fillRect/>
          </a:stretch>
        </p:blipFill>
        <p:spPr>
          <a:xfrm>
            <a:off x="907413" y="1661554"/>
            <a:ext cx="4823584" cy="3761784"/>
          </a:xfrm>
          <a:prstGeom prst="rect">
            <a:avLst/>
          </a:prstGeom>
        </p:spPr>
      </p:pic>
      <p:sp>
        <p:nvSpPr>
          <p:cNvPr id="16" name="标题 1"/>
          <p:cNvSpPr txBox="1"/>
          <p:nvPr/>
        </p:nvSpPr>
        <p:spPr>
          <a:xfrm>
            <a:off x="6322991" y="1083032"/>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为后人奠基</a:t>
            </a:r>
            <a:endParaRPr lang="zh-CN" altLang="en-US" sz="2400" b="1" dirty="0">
              <a:solidFill>
                <a:srgbClr val="FF999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内容占位符 3" descr="麋鹿.gif"/>
          <p:cNvPicPr>
            <a:picLocks noChangeAspect="1"/>
          </p:cNvPicPr>
          <p:nvPr/>
        </p:nvPicPr>
        <p:blipFill>
          <a:blip r:embed="rId3" cstate="print"/>
          <a:stretch>
            <a:fillRect/>
          </a:stretch>
        </p:blipFill>
        <p:spPr>
          <a:xfrm>
            <a:off x="906210" y="1669153"/>
            <a:ext cx="4824556" cy="3747980"/>
          </a:xfrm>
          <a:prstGeom prst="rect">
            <a:avLst/>
          </a:prstGeom>
        </p:spPr>
      </p:pic>
      <p:pic>
        <p:nvPicPr>
          <p:cNvPr id="9" name="图片 8" descr="6ccb8bc6dbe83c6ae811819d70909b6f"/>
          <p:cNvPicPr>
            <a:picLocks noChangeAspect="1"/>
          </p:cNvPicPr>
          <p:nvPr/>
        </p:nvPicPr>
        <p:blipFill>
          <a:blip r:embed="rId4" cstate="print"/>
          <a:stretch>
            <a:fillRect/>
          </a:stretch>
        </p:blipFill>
        <p:spPr>
          <a:xfrm>
            <a:off x="0" y="3305810"/>
            <a:ext cx="12192000" cy="3552190"/>
          </a:xfrm>
          <a:prstGeom prst="rect">
            <a:avLst/>
          </a:prstGeom>
        </p:spPr>
      </p:pic>
      <p:pic>
        <p:nvPicPr>
          <p:cNvPr id="4" name="内容占位符 3" descr="大象跳.gif"/>
          <p:cNvPicPr>
            <a:picLocks noGrp="1" noChangeAspect="1"/>
          </p:cNvPicPr>
          <p:nvPr>
            <p:ph idx="4294967295"/>
          </p:nvPr>
        </p:nvPicPr>
        <p:blipFill>
          <a:blip r:embed="rId5" cstate="print"/>
          <a:stretch>
            <a:fillRect/>
          </a:stretch>
        </p:blipFill>
        <p:spPr>
          <a:xfrm>
            <a:off x="1121406" y="1684584"/>
            <a:ext cx="4705116" cy="3688811"/>
          </a:xfrm>
        </p:spPr>
      </p:pic>
      <p:sp>
        <p:nvSpPr>
          <p:cNvPr id="5" name="标题 1"/>
          <p:cNvSpPr txBox="1"/>
          <p:nvPr/>
        </p:nvSpPr>
        <p:spPr>
          <a:xfrm>
            <a:off x="913297" y="1080390"/>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更深入的思考</a:t>
            </a:r>
            <a:endParaRPr lang="zh-CN" altLang="en-US" sz="2400" b="1" dirty="0">
              <a:solidFill>
                <a:srgbClr val="FF999B"/>
              </a:solidFill>
              <a:latin typeface="微软雅黑" panose="020B0503020204020204" charset="-122"/>
              <a:ea typeface="微软雅黑" panose="020B0503020204020204" charset="-122"/>
            </a:endParaRPr>
          </a:p>
        </p:txBody>
      </p:sp>
      <p:pic>
        <p:nvPicPr>
          <p:cNvPr id="3" name="图片 2"/>
          <p:cNvPicPr>
            <a:picLocks noChangeAspect="1"/>
          </p:cNvPicPr>
          <p:nvPr/>
        </p:nvPicPr>
        <p:blipFill rotWithShape="1">
          <a:blip r:embed="rId6" cstate="print">
            <a:extLst>
              <a:ext uri="{28A0092B-C50C-407E-A947-70E740481C1C}">
                <a14:useLocalDpi xmlns:a14="http://schemas.microsoft.com/office/drawing/2010/main" xmlns="" val="0"/>
              </a:ext>
            </a:extLst>
          </a:blip>
          <a:srcRect l="15806" t="12258" r="11253" b="65141"/>
          <a:stretch>
            <a:fillRect/>
          </a:stretch>
        </p:blipFill>
        <p:spPr>
          <a:xfrm>
            <a:off x="3594893" y="-113178"/>
            <a:ext cx="5002213" cy="1549970"/>
          </a:xfrm>
          <a:prstGeom prst="rect">
            <a:avLst/>
          </a:prstGeom>
        </p:spPr>
      </p:pic>
      <p:pic>
        <p:nvPicPr>
          <p:cNvPr id="10" name="内容占位符 3" descr="大象跳.gif"/>
          <p:cNvPicPr>
            <a:picLocks noGrp="1" noChangeAspect="1"/>
          </p:cNvPicPr>
          <p:nvPr/>
        </p:nvPicPr>
        <p:blipFill>
          <a:blip r:embed="rId5" cstate="print"/>
          <a:stretch>
            <a:fillRect/>
          </a:stretch>
        </p:blipFill>
        <p:spPr>
          <a:xfrm>
            <a:off x="1121406" y="1664264"/>
            <a:ext cx="4705116" cy="3688811"/>
          </a:xfrm>
        </p:spPr>
      </p:pic>
      <p:pic>
        <p:nvPicPr>
          <p:cNvPr id="17" name="图片 20"/>
          <p:cNvPicPr>
            <a:picLocks noChangeAspect="1"/>
          </p:cNvPicPr>
          <p:nvPr/>
        </p:nvPicPr>
        <p:blipFill>
          <a:blip r:embed="rId7" cstate="print"/>
          <a:stretch>
            <a:fillRect/>
          </a:stretch>
        </p:blipFill>
        <p:spPr>
          <a:xfrm>
            <a:off x="10797463" y="-40794"/>
            <a:ext cx="1363980" cy="1242695"/>
          </a:xfrm>
          <a:prstGeom prst="rect">
            <a:avLst/>
          </a:prstGeom>
          <a:noFill/>
          <a:ln w="9525">
            <a:noFill/>
          </a:ln>
        </p:spPr>
      </p:pic>
      <p:sp>
        <p:nvSpPr>
          <p:cNvPr id="13" name="矩形 12"/>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之道</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
        <p:nvSpPr>
          <p:cNvPr id="16" name="标题 1"/>
          <p:cNvSpPr txBox="1"/>
          <p:nvPr/>
        </p:nvSpPr>
        <p:spPr>
          <a:xfrm>
            <a:off x="6322991" y="1083032"/>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更全面的思维</a:t>
            </a:r>
            <a:endParaRPr lang="zh-CN" altLang="en-US" sz="2400" b="1" dirty="0">
              <a:solidFill>
                <a:srgbClr val="FF999B"/>
              </a:solidFill>
              <a:latin typeface="微软雅黑" panose="020B0503020204020204" charset="-122"/>
              <a:ea typeface="微软雅黑" panose="020B0503020204020204" charset="-122"/>
            </a:endParaRPr>
          </a:p>
        </p:txBody>
      </p:sp>
      <p:pic>
        <p:nvPicPr>
          <p:cNvPr id="15" name="内容占位符 3" descr="狮子.gif"/>
          <p:cNvPicPr>
            <a:picLocks noChangeAspect="1"/>
          </p:cNvPicPr>
          <p:nvPr/>
        </p:nvPicPr>
        <p:blipFill>
          <a:blip r:embed="rId8" cstate="print"/>
          <a:stretch>
            <a:fillRect/>
          </a:stretch>
        </p:blipFill>
        <p:spPr>
          <a:xfrm>
            <a:off x="6318819" y="1654321"/>
            <a:ext cx="4764340" cy="3761134"/>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内容占位符 3" descr="家猫.gif"/>
          <p:cNvPicPr>
            <a:picLocks noChangeAspect="1"/>
          </p:cNvPicPr>
          <p:nvPr/>
        </p:nvPicPr>
        <p:blipFill>
          <a:blip r:embed="rId3" cstate="print"/>
          <a:stretch>
            <a:fillRect/>
          </a:stretch>
        </p:blipFill>
        <p:spPr>
          <a:xfrm>
            <a:off x="6325133" y="1657598"/>
            <a:ext cx="4758026" cy="3753915"/>
          </a:xfrm>
          <a:prstGeom prst="rect">
            <a:avLst/>
          </a:prstGeom>
        </p:spPr>
      </p:pic>
      <p:pic>
        <p:nvPicPr>
          <p:cNvPr id="14" name="内容占位符 3" descr="狗狗.gif"/>
          <p:cNvPicPr>
            <a:picLocks noChangeAspect="1"/>
          </p:cNvPicPr>
          <p:nvPr/>
        </p:nvPicPr>
        <p:blipFill>
          <a:blip r:embed="rId4" cstate="print"/>
          <a:stretch>
            <a:fillRect/>
          </a:stretch>
        </p:blipFill>
        <p:spPr>
          <a:xfrm>
            <a:off x="900916" y="1657600"/>
            <a:ext cx="4833791" cy="3749971"/>
          </a:xfrm>
          <a:prstGeom prst="rect">
            <a:avLst/>
          </a:prstGeom>
        </p:spPr>
      </p:pic>
      <p:pic>
        <p:nvPicPr>
          <p:cNvPr id="9" name="图片 8" descr="6ccb8bc6dbe83c6ae811819d70909b6f"/>
          <p:cNvPicPr>
            <a:picLocks noChangeAspect="1"/>
          </p:cNvPicPr>
          <p:nvPr/>
        </p:nvPicPr>
        <p:blipFill>
          <a:blip r:embed="rId5" cstate="print"/>
          <a:stretch>
            <a:fillRect/>
          </a:stretch>
        </p:blipFill>
        <p:spPr>
          <a:xfrm>
            <a:off x="0" y="3305810"/>
            <a:ext cx="12192000" cy="3552190"/>
          </a:xfrm>
          <a:prstGeom prst="rect">
            <a:avLst/>
          </a:prstGeom>
        </p:spPr>
      </p:pic>
      <p:pic>
        <p:nvPicPr>
          <p:cNvPr id="4" name="内容占位符 3" descr="大象跳.gif"/>
          <p:cNvPicPr>
            <a:picLocks noGrp="1" noChangeAspect="1"/>
          </p:cNvPicPr>
          <p:nvPr>
            <p:ph idx="4294967295"/>
          </p:nvPr>
        </p:nvPicPr>
        <p:blipFill>
          <a:blip r:embed="rId6" cstate="print"/>
          <a:stretch>
            <a:fillRect/>
          </a:stretch>
        </p:blipFill>
        <p:spPr>
          <a:xfrm>
            <a:off x="1121406" y="1684584"/>
            <a:ext cx="4705116" cy="3688811"/>
          </a:xfrm>
        </p:spPr>
      </p:pic>
      <p:sp>
        <p:nvSpPr>
          <p:cNvPr id="5" name="标题 1"/>
          <p:cNvSpPr txBox="1"/>
          <p:nvPr/>
        </p:nvSpPr>
        <p:spPr>
          <a:xfrm>
            <a:off x="913297" y="1080390"/>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更广阔的快乐</a:t>
            </a:r>
            <a:endParaRPr lang="zh-CN" altLang="en-US" sz="2400" b="1" dirty="0">
              <a:solidFill>
                <a:srgbClr val="FF999B"/>
              </a:solidFill>
              <a:latin typeface="微软雅黑" panose="020B0503020204020204" charset="-122"/>
              <a:ea typeface="微软雅黑" panose="020B0503020204020204" charset="-122"/>
            </a:endParaRPr>
          </a:p>
        </p:txBody>
      </p:sp>
      <p:pic>
        <p:nvPicPr>
          <p:cNvPr id="3" name="图片 2"/>
          <p:cNvPicPr>
            <a:picLocks noChangeAspect="1"/>
          </p:cNvPicPr>
          <p:nvPr/>
        </p:nvPicPr>
        <p:blipFill rotWithShape="1">
          <a:blip r:embed="rId7" cstate="print">
            <a:extLst>
              <a:ext uri="{28A0092B-C50C-407E-A947-70E740481C1C}">
                <a14:useLocalDpi xmlns:a14="http://schemas.microsoft.com/office/drawing/2010/main" xmlns="" val="0"/>
              </a:ext>
            </a:extLst>
          </a:blip>
          <a:srcRect l="15806" t="12258" r="11253" b="65141"/>
          <a:stretch>
            <a:fillRect/>
          </a:stretch>
        </p:blipFill>
        <p:spPr>
          <a:xfrm>
            <a:off x="3594893" y="-113178"/>
            <a:ext cx="5002213" cy="1549970"/>
          </a:xfrm>
          <a:prstGeom prst="rect">
            <a:avLst/>
          </a:prstGeom>
        </p:spPr>
      </p:pic>
      <p:pic>
        <p:nvPicPr>
          <p:cNvPr id="10" name="内容占位符 3" descr="大象跳.gif"/>
          <p:cNvPicPr>
            <a:picLocks noGrp="1" noChangeAspect="1"/>
          </p:cNvPicPr>
          <p:nvPr/>
        </p:nvPicPr>
        <p:blipFill>
          <a:blip r:embed="rId6" cstate="print"/>
          <a:stretch>
            <a:fillRect/>
          </a:stretch>
        </p:blipFill>
        <p:spPr>
          <a:xfrm>
            <a:off x="1121406" y="1664264"/>
            <a:ext cx="4705116" cy="3688811"/>
          </a:xfrm>
        </p:spPr>
      </p:pic>
      <p:pic>
        <p:nvPicPr>
          <p:cNvPr id="17" name="图片 20"/>
          <p:cNvPicPr>
            <a:picLocks noChangeAspect="1"/>
          </p:cNvPicPr>
          <p:nvPr/>
        </p:nvPicPr>
        <p:blipFill>
          <a:blip r:embed="rId8" cstate="print"/>
          <a:stretch>
            <a:fillRect/>
          </a:stretch>
        </p:blipFill>
        <p:spPr>
          <a:xfrm>
            <a:off x="10797463" y="-40794"/>
            <a:ext cx="1363980" cy="1242695"/>
          </a:xfrm>
          <a:prstGeom prst="rect">
            <a:avLst/>
          </a:prstGeom>
          <a:noFill/>
          <a:ln w="9525">
            <a:noFill/>
          </a:ln>
        </p:spPr>
      </p:pic>
      <p:sp>
        <p:nvSpPr>
          <p:cNvPr id="13" name="矩形 12"/>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之道</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
        <p:nvSpPr>
          <p:cNvPr id="16" name="标题 1"/>
          <p:cNvSpPr txBox="1"/>
          <p:nvPr/>
        </p:nvSpPr>
        <p:spPr>
          <a:xfrm>
            <a:off x="6322991" y="1083032"/>
            <a:ext cx="2795541"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smtClean="0">
                <a:solidFill>
                  <a:srgbClr val="FF999B"/>
                </a:solidFill>
                <a:latin typeface="微软雅黑" panose="020B0503020204020204" charset="-122"/>
                <a:ea typeface="微软雅黑" panose="020B0503020204020204" charset="-122"/>
              </a:rPr>
              <a:t>更伟大的成就</a:t>
            </a:r>
            <a:endParaRPr lang="zh-CN" altLang="en-US" sz="2400" b="1" dirty="0">
              <a:solidFill>
                <a:srgbClr val="FF999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45c407e3387dca278e382816eec1a0d2"/>
          <p:cNvPicPr>
            <a:picLocks noChangeAspect="1"/>
          </p:cNvPicPr>
          <p:nvPr/>
        </p:nvPicPr>
        <p:blipFill>
          <a:blip r:embed="rId3" cstate="print"/>
          <a:stretch>
            <a:fillRect/>
          </a:stretch>
        </p:blipFill>
        <p:spPr>
          <a:xfrm>
            <a:off x="0" y="2477770"/>
            <a:ext cx="12192000" cy="4380230"/>
          </a:xfrm>
          <a:prstGeom prst="rect">
            <a:avLst/>
          </a:prstGeom>
        </p:spPr>
      </p:pic>
      <p:pic>
        <p:nvPicPr>
          <p:cNvPr id="4" name="图片 3" descr="5b6ce715ee482"/>
          <p:cNvPicPr>
            <a:picLocks noChangeAspect="1"/>
          </p:cNvPicPr>
          <p:nvPr/>
        </p:nvPicPr>
        <p:blipFill>
          <a:blip r:embed="rId4" cstate="print"/>
          <a:stretch>
            <a:fillRect/>
          </a:stretch>
        </p:blipFill>
        <p:spPr>
          <a:xfrm>
            <a:off x="4102100" y="3671570"/>
            <a:ext cx="4408805" cy="3109595"/>
          </a:xfrm>
          <a:prstGeom prst="rect">
            <a:avLst/>
          </a:prstGeom>
        </p:spPr>
      </p:pic>
      <p:pic>
        <p:nvPicPr>
          <p:cNvPr id="5" name="图片 4" descr="6e3e461d6fe4261ffac34bab182ac1ed"/>
          <p:cNvPicPr>
            <a:picLocks noChangeAspect="1"/>
          </p:cNvPicPr>
          <p:nvPr/>
        </p:nvPicPr>
        <p:blipFill>
          <a:blip r:embed="rId5" cstate="print"/>
          <a:stretch>
            <a:fillRect/>
          </a:stretch>
        </p:blipFill>
        <p:spPr>
          <a:xfrm>
            <a:off x="1811020" y="273050"/>
            <a:ext cx="8569960" cy="4753610"/>
          </a:xfrm>
          <a:prstGeom prst="rect">
            <a:avLst/>
          </a:prstGeom>
        </p:spPr>
      </p:pic>
      <p:sp>
        <p:nvSpPr>
          <p:cNvPr id="17" name="文本框 16"/>
          <p:cNvSpPr txBox="1"/>
          <p:nvPr/>
        </p:nvSpPr>
        <p:spPr>
          <a:xfrm>
            <a:off x="3691655" y="2284529"/>
            <a:ext cx="5460228" cy="1200329"/>
          </a:xfrm>
          <a:prstGeom prst="rect">
            <a:avLst/>
          </a:prstGeom>
          <a:noFill/>
        </p:spPr>
        <p:txBody>
          <a:bodyPr wrap="square" rtlCol="0">
            <a:spAutoFit/>
          </a:bodyPr>
          <a:lstStyle/>
          <a:p>
            <a:r>
              <a:rPr lang="en-US" altLang="zh-CN" sz="72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Nander</a:t>
            </a:r>
            <a:r>
              <a:rPr lang="en-US" altLang="zh-CN" sz="72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 </a:t>
            </a:r>
            <a:r>
              <a:rPr lang="zh-CN" altLang="en-US" sz="72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sym typeface="+mn-ea"/>
              </a:rPr>
              <a:t>成员</a:t>
            </a:r>
            <a:r>
              <a:rPr lang="zh-CN" altLang="en-US" sz="7200" b="1" dirty="0" smtClean="0">
                <a:solidFill>
                  <a:srgbClr val="4E7999"/>
                </a:solidFill>
                <a:latin typeface="方正舒体" panose="02010601030101010101" pitchFamily="2" charset="-122"/>
                <a:ea typeface="方正舒体" panose="02010601030101010101" pitchFamily="2" charset="-122"/>
                <a:cs typeface="文鼎DC香蕉人体F_B" panose="040B0800000000000000" charset="-122"/>
              </a:rPr>
              <a:t> </a:t>
            </a:r>
            <a:endParaRPr lang="zh-CN" altLang="en-US" sz="7200" b="1" dirty="0">
              <a:solidFill>
                <a:srgbClr val="4E7999"/>
              </a:solidFill>
              <a:latin typeface="方正舒体" panose="02010601030101010101" pitchFamily="2" charset="-122"/>
              <a:ea typeface="方正舒体" panose="02010601030101010101" pitchFamily="2" charset="-122"/>
              <a:cs typeface="文鼎DC香蕉人体F_B" panose="040B0800000000000000" charset="-122"/>
            </a:endParaRPr>
          </a:p>
        </p:txBody>
      </p:sp>
      <p:sp>
        <p:nvSpPr>
          <p:cNvPr id="27" name="文本框 26"/>
          <p:cNvSpPr txBox="1"/>
          <p:nvPr/>
        </p:nvSpPr>
        <p:spPr>
          <a:xfrm>
            <a:off x="5908040" y="909320"/>
            <a:ext cx="790601" cy="1569660"/>
          </a:xfrm>
          <a:prstGeom prst="rect">
            <a:avLst/>
          </a:prstGeom>
          <a:noFill/>
        </p:spPr>
        <p:txBody>
          <a:bodyPr wrap="none" rtlCol="0">
            <a:spAutoFit/>
          </a:bodyPr>
          <a:lstStyle/>
          <a:p>
            <a:r>
              <a:rPr lang="en-US" altLang="zh-CN" sz="9600" b="1" dirty="0">
                <a:solidFill>
                  <a:srgbClr val="476682"/>
                </a:solidFill>
                <a:latin typeface="方正舒体" panose="02010601030101010101" pitchFamily="2" charset="-122"/>
                <a:ea typeface="方正舒体" panose="02010601030101010101" pitchFamily="2" charset="-122"/>
              </a:rPr>
              <a:t>4</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6ccb8bc6dbe83c6ae811819d70909b6f"/>
          <p:cNvPicPr>
            <a:picLocks noChangeAspect="1"/>
          </p:cNvPicPr>
          <p:nvPr/>
        </p:nvPicPr>
        <p:blipFill>
          <a:blip r:embed="rId3" cstate="print"/>
          <a:srcRect t="81605"/>
          <a:stretch>
            <a:fillRect/>
          </a:stretch>
        </p:blipFill>
        <p:spPr>
          <a:xfrm>
            <a:off x="721" y="6205564"/>
            <a:ext cx="12191279" cy="653415"/>
          </a:xfrm>
          <a:prstGeom prst="rect">
            <a:avLst/>
          </a:prstGeom>
        </p:spPr>
      </p:pic>
      <p:sp>
        <p:nvSpPr>
          <p:cNvPr id="3" name="内容占位符 2"/>
          <p:cNvSpPr>
            <a:spLocks noGrp="1"/>
          </p:cNvSpPr>
          <p:nvPr>
            <p:ph idx="1"/>
          </p:nvPr>
        </p:nvSpPr>
        <p:spPr>
          <a:xfrm>
            <a:off x="2354820" y="79861"/>
            <a:ext cx="8210692" cy="6081358"/>
          </a:xfrm>
        </p:spPr>
        <p:txBody>
          <a:bodyPr>
            <a:noAutofit/>
          </a:bodyPr>
          <a:lstStyle/>
          <a:p>
            <a:pPr marL="0" indent="0">
              <a:lnSpc>
                <a:spcPct val="90000"/>
              </a:lnSpc>
              <a:buNone/>
            </a:pP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成为</a:t>
            </a:r>
            <a:r>
              <a:rPr lang="en-US" altLang="zh-CN" sz="2000" b="1"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成员的条件：建立自我 </a:t>
            </a:r>
            <a:r>
              <a:rPr lang="en-US" altLang="zh-CN"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 </a:t>
            </a:r>
            <a:r>
              <a:rPr lang="zh-CN" altLang="en-US" sz="2000"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追求无我</a:t>
            </a:r>
            <a:endPar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lnSpc>
                <a:spcPct val="90000"/>
              </a:lnSpc>
              <a:buNone/>
            </a:pPr>
            <a: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t/>
            </a:r>
            <a:b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建立自我</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endPar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buNone/>
            </a:pPr>
            <a:r>
              <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1</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20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要求每一位成员具备基于某领域技术构建一整套规范的构件库的技术能力与书写相关的规范性文档的能力。</a:t>
            </a:r>
            <a:endPar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buNone/>
            </a:pPr>
            <a:r>
              <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2</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20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尊重每一位创作者的知识产权，要求每一位成员在其提供的构件库与文档的每一个明显位置清楚的标明自己的角色与联系方式，如：创建者、重大功能贡献者或者重大缺陷改进者，以便</a:t>
            </a:r>
            <a:r>
              <a:rPr lang="en-US" altLang="zh-CN" sz="20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用户清晰的知道自己受到了谁的帮助。</a:t>
            </a:r>
            <a:endPar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buNone/>
            </a:pPr>
            <a:r>
              <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3</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20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致力于全系列技术体系的生态建设，对于构件库的建设方向上，除了实用，规范这两个特性之外，暂时不要求符合某种统一的规范特性，不排斥甚至鼓励每一位创作者提供的构件库独具个人色彩，就好像本</a:t>
            </a:r>
            <a:r>
              <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PPT</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中的众多动物都有自己的特色。</a:t>
            </a:r>
            <a:endPar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buNone/>
            </a:pPr>
            <a: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t/>
            </a:r>
            <a:b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sz="2000" b="1" dirty="0" smtClean="0">
                <a:solidFill>
                  <a:srgbClr val="FF999B"/>
                </a:solidFill>
                <a:latin typeface="方正舒体" panose="02010601030101010101" pitchFamily="2" charset="-122"/>
                <a:ea typeface="方正舒体" panose="02010601030101010101" pitchFamily="2" charset="-122"/>
                <a:cs typeface="微软雅黑" panose="020B0503020204020204" charset="-122"/>
              </a:rPr>
              <a:t>追求无我</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a:t>
            </a:r>
            <a:r>
              <a:rPr lang="en-US" altLang="zh-CN"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 </a:t>
            </a:r>
          </a:p>
          <a:p>
            <a:pPr marL="0" indent="0">
              <a:buNone/>
            </a:pPr>
            <a:r>
              <a:rPr lang="en-US" altLang="zh-CN" sz="2000" dirty="0" err="1" smtClean="0">
                <a:solidFill>
                  <a:srgbClr val="476682"/>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000"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是受国内开源社区精神指引而构思命名的，起初是为了沉淀工作经验以更高效的开发为目的，现在是为了聚集有分享精神的小伙伴一起构建一套更高维度的通用技术框架并推动它成为木兰开源社区的一个项目，给自己的人生留下有意义的一笔。</a:t>
            </a:r>
            <a:endPar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marL="0" indent="0">
              <a:lnSpc>
                <a:spcPct val="90000"/>
              </a:lnSpc>
              <a:buNone/>
            </a:pPr>
            <a: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t/>
            </a:r>
            <a:b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br>
            <a: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t/>
            </a:r>
            <a:br>
              <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rPr>
            </a:br>
            <a:endParaRPr lang="zh-CN" altLang="en-US" sz="2000"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pic>
        <p:nvPicPr>
          <p:cNvPr id="4" name="图片 3"/>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19100" y="4340729"/>
            <a:ext cx="2569210" cy="2563121"/>
          </a:xfrm>
          <a:prstGeom prst="rect">
            <a:avLst/>
          </a:prstGeom>
        </p:spPr>
      </p:pic>
      <p:pic>
        <p:nvPicPr>
          <p:cNvPr id="13" name="图片 12"/>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10127862" y="4732429"/>
            <a:ext cx="2054860" cy="2030741"/>
          </a:xfrm>
          <a:prstGeom prst="rect">
            <a:avLst/>
          </a:prstGeom>
        </p:spPr>
      </p:pic>
      <p:pic>
        <p:nvPicPr>
          <p:cNvPr id="7173" name="图片 20"/>
          <p:cNvPicPr>
            <a:picLocks noChangeAspect="1"/>
          </p:cNvPicPr>
          <p:nvPr/>
        </p:nvPicPr>
        <p:blipFill>
          <a:blip r:embed="rId6" cstate="print"/>
          <a:stretch>
            <a:fillRect/>
          </a:stretch>
        </p:blipFill>
        <p:spPr>
          <a:xfrm>
            <a:off x="10614245" y="0"/>
            <a:ext cx="1492250" cy="1360170"/>
          </a:xfrm>
          <a:prstGeom prst="rect">
            <a:avLst/>
          </a:prstGeom>
          <a:noFill/>
          <a:ln w="9525">
            <a:noFill/>
          </a:ln>
        </p:spPr>
      </p:pic>
      <p:pic>
        <p:nvPicPr>
          <p:cNvPr id="8" name="图片 7"/>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rot="3000000">
            <a:off x="10883265" y="1935480"/>
            <a:ext cx="1007745" cy="1032510"/>
          </a:xfrm>
          <a:prstGeom prst="rect">
            <a:avLst/>
          </a:prstGeom>
        </p:spPr>
      </p:pic>
      <p:sp>
        <p:nvSpPr>
          <p:cNvPr id="11" name="矩形 10"/>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成员</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6ccb8bc6dbe83c6ae811819d70909b6f"/>
          <p:cNvPicPr>
            <a:picLocks noChangeAspect="1"/>
          </p:cNvPicPr>
          <p:nvPr/>
        </p:nvPicPr>
        <p:blipFill>
          <a:blip r:embed="rId3" cstate="print"/>
          <a:stretch>
            <a:fillRect/>
          </a:stretch>
        </p:blipFill>
        <p:spPr>
          <a:xfrm>
            <a:off x="0" y="3303885"/>
            <a:ext cx="12198985" cy="3552190"/>
          </a:xfrm>
          <a:prstGeom prst="rect">
            <a:avLst/>
          </a:prstGeom>
        </p:spPr>
      </p:pic>
      <p:pic>
        <p:nvPicPr>
          <p:cNvPr id="10" name="图片 9" descr="4882b81963c7890ba359219a1cae8499"/>
          <p:cNvPicPr>
            <a:picLocks noChangeAspect="1"/>
          </p:cNvPicPr>
          <p:nvPr/>
        </p:nvPicPr>
        <p:blipFill>
          <a:blip r:embed="rId4" cstate="print"/>
          <a:stretch>
            <a:fillRect/>
          </a:stretch>
        </p:blipFill>
        <p:spPr>
          <a:xfrm flipH="1">
            <a:off x="1115060" y="410845"/>
            <a:ext cx="6200140" cy="6035675"/>
          </a:xfrm>
          <a:prstGeom prst="rect">
            <a:avLst/>
          </a:prstGeom>
        </p:spPr>
      </p:pic>
      <p:pic>
        <p:nvPicPr>
          <p:cNvPr id="8" name="图片 7" descr="5b84d581c090e"/>
          <p:cNvPicPr>
            <a:picLocks noChangeAspect="1"/>
          </p:cNvPicPr>
          <p:nvPr/>
        </p:nvPicPr>
        <p:blipFill>
          <a:blip r:embed="rId5" cstate="print"/>
          <a:stretch>
            <a:fillRect/>
          </a:stretch>
        </p:blipFill>
        <p:spPr>
          <a:xfrm>
            <a:off x="7315200" y="3020060"/>
            <a:ext cx="4152900" cy="3530600"/>
          </a:xfrm>
          <a:prstGeom prst="rect">
            <a:avLst/>
          </a:prstGeom>
        </p:spPr>
      </p:pic>
      <p:sp>
        <p:nvSpPr>
          <p:cNvPr id="16" name="文本框 15"/>
          <p:cNvSpPr txBox="1"/>
          <p:nvPr/>
        </p:nvSpPr>
        <p:spPr>
          <a:xfrm>
            <a:off x="2076976" y="1712771"/>
            <a:ext cx="4229100" cy="2169825"/>
          </a:xfrm>
          <a:prstGeom prst="rect">
            <a:avLst/>
          </a:prstGeom>
          <a:noFill/>
        </p:spPr>
        <p:txBody>
          <a:bodyPr wrap="square" rtlCol="0">
            <a:spAutoFit/>
          </a:bodyPr>
          <a:lstStyle/>
          <a:p>
            <a:pPr>
              <a:lnSpc>
                <a:spcPct val="150000"/>
              </a:lnSpc>
            </a:pPr>
            <a:r>
              <a:rPr lang="zh-CN" altLang="en-US"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难得 投入时间坚持做一件事情，</a:t>
            </a:r>
            <a:endParaRPr lang="en-US" altLang="zh-CN"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50000"/>
              </a:lnSpc>
            </a:pPr>
            <a:r>
              <a:rPr lang="zh-CN" altLang="en-US"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难得 这件事情被证明是正确的，</a:t>
            </a:r>
            <a:endParaRPr lang="en-US" altLang="zh-CN"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50000"/>
              </a:lnSpc>
            </a:pPr>
            <a:r>
              <a:rPr lang="zh-CN" altLang="en-US"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难得 有将成果免费开源的精神，</a:t>
            </a:r>
            <a:endParaRPr lang="en-US" altLang="zh-CN"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50000"/>
              </a:lnSpc>
            </a:pPr>
            <a:r>
              <a:rPr lang="zh-CN" altLang="en-US"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难得 路上寻见志同道合的朋友，</a:t>
            </a:r>
            <a:endParaRPr lang="en-US" altLang="zh-CN"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endParaRPr>
          </a:p>
          <a:p>
            <a:pPr>
              <a:lnSpc>
                <a:spcPct val="150000"/>
              </a:lnSpc>
            </a:pPr>
            <a:r>
              <a:rPr lang="zh-CN" altLang="en-US" b="1" dirty="0" smtClean="0">
                <a:solidFill>
                  <a:srgbClr val="476682"/>
                </a:solidFill>
                <a:latin typeface="方正舒体" panose="02010601030101010101" pitchFamily="2" charset="-122"/>
                <a:ea typeface="方正舒体" panose="02010601030101010101" pitchFamily="2" charset="-122"/>
                <a:cs typeface="微软雅黑" panose="020B0503020204020204" charset="-122"/>
              </a:rPr>
              <a:t>人生，很多机缘，聚在一起，就是难得。</a:t>
            </a:r>
            <a:endParaRPr lang="zh-CN" altLang="en-US" b="1" dirty="0">
              <a:solidFill>
                <a:srgbClr val="476682"/>
              </a:solidFill>
              <a:latin typeface="方正舒体" panose="02010601030101010101" pitchFamily="2" charset="-122"/>
              <a:ea typeface="方正舒体" panose="02010601030101010101" pitchFamily="2" charset="-122"/>
              <a:cs typeface="微软雅黑" panose="020B0503020204020204" charset="-122"/>
            </a:endParaRPr>
          </a:p>
        </p:txBody>
      </p:sp>
      <p:pic>
        <p:nvPicPr>
          <p:cNvPr id="7173" name="图片 20"/>
          <p:cNvPicPr>
            <a:picLocks noChangeAspect="1"/>
          </p:cNvPicPr>
          <p:nvPr/>
        </p:nvPicPr>
        <p:blipFill>
          <a:blip r:embed="rId6" cstate="print"/>
          <a:stretch>
            <a:fillRect/>
          </a:stretch>
        </p:blipFill>
        <p:spPr>
          <a:xfrm>
            <a:off x="10699750" y="0"/>
            <a:ext cx="1492250" cy="1360170"/>
          </a:xfrm>
          <a:prstGeom prst="rect">
            <a:avLst/>
          </a:prstGeom>
          <a:noFill/>
          <a:ln w="9525">
            <a:noFill/>
          </a:ln>
        </p:spPr>
      </p:pic>
      <p:sp>
        <p:nvSpPr>
          <p:cNvPr id="11" name="矩形 10"/>
          <p:cNvSpPr/>
          <p:nvPr/>
        </p:nvSpPr>
        <p:spPr>
          <a:xfrm>
            <a:off x="194979" y="197919"/>
            <a:ext cx="2336466"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r>
              <a:rPr lang="zh-CN" altLang="en-US" sz="2800" b="1" dirty="0" smtClean="0">
                <a:solidFill>
                  <a:srgbClr val="34705E"/>
                </a:solidFill>
                <a:latin typeface="方正舒体" panose="02010601030101010101" pitchFamily="2" charset="-122"/>
                <a:ea typeface="方正舒体" panose="02010601030101010101" pitchFamily="2" charset="-122"/>
                <a:cs typeface="微软雅黑" panose="020B0503020204020204" charset="-122"/>
              </a:rPr>
              <a:t>成员</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
        <p:nvSpPr>
          <p:cNvPr id="12" name="矩形 11"/>
          <p:cNvSpPr/>
          <p:nvPr/>
        </p:nvSpPr>
        <p:spPr>
          <a:xfrm>
            <a:off x="3461069" y="1178009"/>
            <a:ext cx="2569241" cy="523220"/>
          </a:xfrm>
          <a:prstGeom prst="rect">
            <a:avLst/>
          </a:prstGeom>
        </p:spPr>
        <p:txBody>
          <a:bodyPr wrap="square">
            <a:spAutoFit/>
          </a:bodyPr>
          <a:lstStyle/>
          <a:p>
            <a:pPr lvl="0"/>
            <a:r>
              <a:rPr lang="en-US" altLang="zh-CN" sz="2800" b="1" dirty="0" err="1" smtClean="0">
                <a:solidFill>
                  <a:srgbClr val="34705E"/>
                </a:solidFill>
                <a:latin typeface="方正舒体" panose="02010601030101010101" pitchFamily="2" charset="-122"/>
                <a:ea typeface="方正舒体" panose="02010601030101010101" pitchFamily="2" charset="-122"/>
                <a:cs typeface="微软雅黑" panose="020B0503020204020204" charset="-122"/>
              </a:rPr>
              <a:t>Nander</a:t>
            </a:r>
            <a:endParaRPr lang="zh-CN" altLang="en-US" sz="2800" b="1" dirty="0">
              <a:solidFill>
                <a:srgbClr val="34705E"/>
              </a:solidFill>
              <a:latin typeface="方正舒体" panose="02010601030101010101" pitchFamily="2" charset="-122"/>
              <a:ea typeface="方正舒体" panose="02010601030101010101" pitchFamily="2"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5b7e6729cdfb4"/>
          <p:cNvPicPr>
            <a:picLocks noChangeAspect="1"/>
          </p:cNvPicPr>
          <p:nvPr/>
        </p:nvPicPr>
        <p:blipFill>
          <a:blip r:embed="rId3" cstate="print"/>
          <a:stretch>
            <a:fillRect/>
          </a:stretch>
        </p:blipFill>
        <p:spPr>
          <a:xfrm>
            <a:off x="-3215640" y="-3126105"/>
            <a:ext cx="18622645" cy="13568045"/>
          </a:xfrm>
          <a:prstGeom prst="rect">
            <a:avLst/>
          </a:prstGeom>
        </p:spPr>
      </p:pic>
      <p:pic>
        <p:nvPicPr>
          <p:cNvPr id="15" name="图片 14" descr="45c407e3387dca278e382816eec1a0d2"/>
          <p:cNvPicPr>
            <a:picLocks noChangeAspect="1"/>
          </p:cNvPicPr>
          <p:nvPr/>
        </p:nvPicPr>
        <p:blipFill>
          <a:blip r:embed="rId4" cstate="print"/>
          <a:stretch>
            <a:fillRect/>
          </a:stretch>
        </p:blipFill>
        <p:spPr>
          <a:xfrm>
            <a:off x="0" y="2485756"/>
            <a:ext cx="12192000" cy="4380230"/>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803910" y="-408925"/>
            <a:ext cx="10870565" cy="7675850"/>
          </a:xfrm>
          <a:prstGeom prst="rect">
            <a:avLst/>
          </a:prstGeom>
        </p:spPr>
      </p:pic>
      <p:pic>
        <p:nvPicPr>
          <p:cNvPr id="5" name="图片 4" descr="5b874a3b62370"/>
          <p:cNvPicPr>
            <a:picLocks noChangeAspect="1"/>
          </p:cNvPicPr>
          <p:nvPr/>
        </p:nvPicPr>
        <p:blipFill>
          <a:blip r:embed="rId6" cstate="print"/>
          <a:stretch>
            <a:fillRect/>
          </a:stretch>
        </p:blipFill>
        <p:spPr>
          <a:xfrm>
            <a:off x="4135120" y="3859530"/>
            <a:ext cx="4208145" cy="2971800"/>
          </a:xfrm>
          <a:prstGeom prst="rect">
            <a:avLst/>
          </a:prstGeom>
        </p:spPr>
      </p:pic>
      <p:sp>
        <p:nvSpPr>
          <p:cNvPr id="4" name="文本框 3"/>
          <p:cNvSpPr txBox="1"/>
          <p:nvPr/>
        </p:nvSpPr>
        <p:spPr>
          <a:xfrm>
            <a:off x="3912870" y="2706370"/>
            <a:ext cx="4653280" cy="1445260"/>
          </a:xfrm>
          <a:prstGeom prst="rect">
            <a:avLst/>
          </a:prstGeom>
          <a:noFill/>
        </p:spPr>
        <p:txBody>
          <a:bodyPr wrap="none" rtlCol="0">
            <a:spAutoFit/>
          </a:bodyPr>
          <a:lstStyle/>
          <a:p>
            <a:r>
              <a:rPr lang="zh-CN" altLang="zh-CN" sz="8800">
                <a:solidFill>
                  <a:schemeClr val="bg1"/>
                </a:solidFill>
                <a:latin typeface="华康POP2体W9(P)" panose="040B0900000000000000" charset="-122"/>
                <a:ea typeface="华康POP2体W9(P)" panose="040B0900000000000000" charset="-122"/>
              </a:rPr>
              <a:t>谢谢观看</a:t>
            </a:r>
          </a:p>
        </p:txBody>
      </p:sp>
    </p:spTree>
  </p:cSld>
  <p:clrMapOvr>
    <a:masterClrMapping/>
  </p:clrMapOvr>
  <mc:AlternateContent xmlns:mc="http://schemas.openxmlformats.org/markup-compatibility/2006">
    <mc:Choice xmlns:p14="http://schemas.microsoft.com/office/powerpoint/2010/main" xmlns="" Requires="p14">
      <p:transition spd="slow" p14:dur="1500" advClick="0" advTm="2000">
        <p:random/>
      </p:transition>
    </mc:Choice>
    <mc:Fallback>
      <p:transition spd="slow" advClick="0" advTm="2000">
        <p:random/>
      </p:transition>
    </mc:Fallback>
  </mc:AlternateContent>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1676</Words>
  <Application>Microsoft Office PowerPoint</Application>
  <PresentationFormat>自定义</PresentationFormat>
  <Paragraphs>171</Paragraphs>
  <Slides>31</Slides>
  <Notes>31</Notes>
  <HiddenSlides>0</HiddenSlides>
  <MMClips>0</MMClips>
  <ScaleCrop>false</ScaleCrop>
  <HeadingPairs>
    <vt:vector size="4" baseType="variant">
      <vt:variant>
        <vt:lpstr>主题</vt:lpstr>
      </vt:variant>
      <vt:variant>
        <vt:i4>1</vt:i4>
      </vt:variant>
      <vt:variant>
        <vt:lpstr>幻灯片标题</vt:lpstr>
      </vt:variant>
      <vt:variant>
        <vt:i4>31</vt:i4>
      </vt:variant>
    </vt:vector>
  </HeadingPairs>
  <TitlesOfParts>
    <vt:vector size="32"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卡通世界动物日介绍PPT模板</dc:title>
  <dc:creator/>
  <dc:description>http://www.ypppt.com/</dc:description>
  <cp:lastModifiedBy>DELL</cp:lastModifiedBy>
  <cp:revision>199</cp:revision>
  <dcterms:created xsi:type="dcterms:W3CDTF">2018-01-28T08:07:00Z</dcterms:created>
  <dcterms:modified xsi:type="dcterms:W3CDTF">2026-04-19T12:45:40Z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2052-12.8.2.15091</vt:lpwstr>
  </property>
  <property fmtid="{D5CDD505-2E9C-101B-9397-08002B2CF9AE}" pid="3" name="ICV">
    <vt:lpwstr>0742033BF3F74CE0969C68580475897F_12</vt:lpwstr>
  </property>
</Properties>
</file>